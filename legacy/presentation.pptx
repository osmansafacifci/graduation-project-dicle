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8288000" cy="10287000"/>
  <p:notesSz cx="6858000" cy="9144000"/>
  <p:embeddedFontLst>
    <p:embeddedFont>
      <p:font typeface="Arial Bold" panose="020B0704020202020204" pitchFamily="34" charset="0"/>
      <p:regular r:id="rId22"/>
      <p:bold r:id="rId23"/>
    </p:embeddedFont>
    <p:embeddedFont>
      <p:font typeface="Arial Italics" panose="020B0604020202090204" pitchFamily="34" charset="0"/>
      <p:regular r:id="rId24"/>
      <p:italic r:id="rId25"/>
    </p:embeddedFont>
    <p:embeddedFont>
      <p:font typeface="Lato" panose="020F0502020204030203" pitchFamily="34" charset="0"/>
      <p:regular r:id="rId26"/>
      <p:bold r:id="rId27"/>
      <p:italic r:id="rId28"/>
      <p:boldItalic r:id="rId29"/>
    </p:embeddedFont>
    <p:embeddedFont>
      <p:font typeface="Lato Bold" panose="020F0502020204030203" pitchFamily="34" charset="0"/>
      <p:regular r:id="rId30"/>
      <p:bold r:id="rId31"/>
    </p:embeddedFont>
    <p:embeddedFont>
      <p:font typeface="Roboto" panose="02000000000000000000" pitchFamily="2" charset="0"/>
      <p:regular r:id="rId32"/>
      <p:bold r:id="rId33"/>
      <p:italic r:id="rId34"/>
      <p:boldItalic r:id="rId35"/>
    </p:embeddedFont>
    <p:embeddedFont>
      <p:font typeface="Roboto Bold" panose="02000000000000000000" pitchFamily="2" charset="0"/>
      <p:regular r:id="rId36"/>
      <p:bold r:id="rId3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9A06CB4-4817-11F4-297F-EB00B4CD0A49}" v="35" dt="2026-01-13T13:59:23.021"/>
    <p1510:client id="{CC141B96-87C5-C7B1-E382-B9F18AB5CD32}" v="1148" dt="2026-01-13T13:54:39.83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 autoAdjust="0"/>
    <p:restoredTop sz="94598" autoAdjust="0"/>
  </p:normalViewPr>
  <p:slideViewPr>
    <p:cSldViewPr>
      <p:cViewPr varScale="1">
        <p:scale>
          <a:sx n="79" d="100"/>
          <a:sy n="79" d="100"/>
        </p:scale>
        <p:origin x="552" y="21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font" Target="fonts/font13.fntdata"/><Relationship Id="rId42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8.fntdata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font" Target="fonts/font11.fntdata"/><Relationship Id="rId37" Type="http://schemas.openxmlformats.org/officeDocument/2006/relationships/font" Target="fonts/font16.fntdata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36" Type="http://schemas.openxmlformats.org/officeDocument/2006/relationships/font" Target="fonts/font1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font" Target="fonts/font9.fntdata"/><Relationship Id="rId35" Type="http://schemas.openxmlformats.org/officeDocument/2006/relationships/font" Target="fonts/font14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3" Type="http://schemas.openxmlformats.org/officeDocument/2006/relationships/font" Target="fonts/font12.fntdata"/><Relationship Id="rId38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dictionary.cambridge.org/tr/s%C3%B6zl%C3%BCk/ingilizce-t%C3%BCrk%C3%A7e/this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7147">
            <a:off x="-19070" y="2903120"/>
            <a:ext cx="18326140" cy="0"/>
          </a:xfrm>
          <a:prstGeom prst="line">
            <a:avLst/>
          </a:prstGeom>
          <a:ln w="19050" cap="rnd">
            <a:solidFill>
              <a:srgbClr val="1A2A6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TR"/>
          </a:p>
        </p:txBody>
      </p:sp>
      <p:sp>
        <p:nvSpPr>
          <p:cNvPr id="3" name="AutoShape 3"/>
          <p:cNvSpPr/>
          <p:nvPr/>
        </p:nvSpPr>
        <p:spPr>
          <a:xfrm rot="7147">
            <a:off x="-19070" y="2992014"/>
            <a:ext cx="18326140" cy="0"/>
          </a:xfrm>
          <a:prstGeom prst="line">
            <a:avLst/>
          </a:prstGeom>
          <a:ln w="19050" cap="rnd">
            <a:solidFill>
              <a:srgbClr val="EE801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TR"/>
          </a:p>
        </p:txBody>
      </p:sp>
      <p:sp>
        <p:nvSpPr>
          <p:cNvPr id="4" name="AutoShape 4"/>
          <p:cNvSpPr/>
          <p:nvPr/>
        </p:nvSpPr>
        <p:spPr>
          <a:xfrm rot="7147">
            <a:off x="-19070" y="3093609"/>
            <a:ext cx="18326140" cy="0"/>
          </a:xfrm>
          <a:prstGeom prst="line">
            <a:avLst/>
          </a:prstGeom>
          <a:ln w="19050" cap="rnd">
            <a:solidFill>
              <a:srgbClr val="C1203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TR"/>
          </a:p>
        </p:txBody>
      </p:sp>
      <p:grpSp>
        <p:nvGrpSpPr>
          <p:cNvPr id="5" name="Group 5"/>
          <p:cNvGrpSpPr/>
          <p:nvPr/>
        </p:nvGrpSpPr>
        <p:grpSpPr>
          <a:xfrm>
            <a:off x="3086100" y="3252789"/>
            <a:ext cx="11887200" cy="2519363"/>
            <a:chOff x="0" y="0"/>
            <a:chExt cx="15849600" cy="335915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5849600" cy="3359150"/>
            </a:xfrm>
            <a:custGeom>
              <a:avLst/>
              <a:gdLst/>
              <a:ahLst/>
              <a:cxnLst/>
              <a:rect l="l" t="t" r="r" b="b"/>
              <a:pathLst>
                <a:path w="15849600" h="3359150">
                  <a:moveTo>
                    <a:pt x="0" y="0"/>
                  </a:moveTo>
                  <a:lnTo>
                    <a:pt x="15849600" y="0"/>
                  </a:lnTo>
                  <a:lnTo>
                    <a:pt x="15849600" y="3359150"/>
                  </a:lnTo>
                  <a:lnTo>
                    <a:pt x="0" y="33591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TR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5849600" cy="33972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7920"/>
                </a:lnSpc>
              </a:pPr>
              <a:r>
                <a:rPr lang="en-US" sz="66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AI-Powered Battery System Performance Prediction</a:t>
              </a:r>
            </a:p>
          </p:txBody>
        </p:sp>
      </p:grpSp>
      <p:sp>
        <p:nvSpPr>
          <p:cNvPr id="8" name="Freeform 8"/>
          <p:cNvSpPr/>
          <p:nvPr/>
        </p:nvSpPr>
        <p:spPr>
          <a:xfrm>
            <a:off x="12545333" y="-827970"/>
            <a:ext cx="4713967" cy="4713967"/>
          </a:xfrm>
          <a:custGeom>
            <a:avLst/>
            <a:gdLst/>
            <a:ahLst/>
            <a:cxnLst/>
            <a:rect l="l" t="t" r="r" b="b"/>
            <a:pathLst>
              <a:path w="4713967" h="4713967">
                <a:moveTo>
                  <a:pt x="0" y="0"/>
                </a:moveTo>
                <a:lnTo>
                  <a:pt x="4713967" y="0"/>
                </a:lnTo>
                <a:lnTo>
                  <a:pt x="4713967" y="4713966"/>
                </a:lnTo>
                <a:lnTo>
                  <a:pt x="0" y="47139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TR"/>
          </a:p>
        </p:txBody>
      </p:sp>
      <p:sp>
        <p:nvSpPr>
          <p:cNvPr id="9" name="TextBox 9"/>
          <p:cNvSpPr txBox="1"/>
          <p:nvPr/>
        </p:nvSpPr>
        <p:spPr>
          <a:xfrm>
            <a:off x="393694" y="9877110"/>
            <a:ext cx="2232666" cy="3431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000090"/>
                </a:solidFill>
                <a:latin typeface="Arial"/>
                <a:ea typeface="Arial"/>
                <a:cs typeface="Arial"/>
                <a:sym typeface="Arial"/>
              </a:rPr>
              <a:t>www.gtu.edu.tr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358640" y="5506782"/>
            <a:ext cx="10523220" cy="41036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031"/>
              </a:lnSpc>
            </a:pPr>
            <a:r>
              <a:rPr lang="en-US" sz="335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CSE 496</a:t>
            </a:r>
          </a:p>
          <a:p>
            <a:pPr algn="r">
              <a:lnSpc>
                <a:spcPts val="4031"/>
              </a:lnSpc>
            </a:pPr>
            <a:r>
              <a:rPr lang="en-US" sz="335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Final Presentation</a:t>
            </a:r>
          </a:p>
          <a:p>
            <a:pPr algn="r">
              <a:lnSpc>
                <a:spcPts val="4031"/>
              </a:lnSpc>
            </a:pPr>
            <a:endParaRPr lang="en-US" sz="3359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r">
              <a:lnSpc>
                <a:spcPts val="4031"/>
              </a:lnSpc>
            </a:pPr>
            <a:r>
              <a:rPr lang="en-US" sz="335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Dicle Çoban</a:t>
            </a:r>
          </a:p>
          <a:p>
            <a:pPr algn="r">
              <a:lnSpc>
                <a:spcPts val="4031"/>
              </a:lnSpc>
            </a:pPr>
            <a:endParaRPr lang="en-US" sz="3359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r">
              <a:lnSpc>
                <a:spcPts val="4031"/>
              </a:lnSpc>
            </a:pPr>
            <a:r>
              <a:rPr lang="en-US" sz="335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Advisor: Asst. Prof. Salih SARP</a:t>
            </a:r>
          </a:p>
          <a:p>
            <a:pPr algn="r">
              <a:lnSpc>
                <a:spcPts val="4031"/>
              </a:lnSpc>
            </a:pPr>
            <a:r>
              <a:rPr lang="en-US" sz="335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Asst. Prof. Osman Safa ÇİFÇİ</a:t>
            </a:r>
            <a:endParaRPr lang="en-US" sz="3350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algn="r">
              <a:lnSpc>
                <a:spcPts val="4031"/>
              </a:lnSpc>
            </a:pPr>
            <a:r>
              <a:rPr lang="en-US" sz="335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January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93694" y="9877110"/>
            <a:ext cx="2232666" cy="3431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000090"/>
                </a:solidFill>
                <a:latin typeface="Arial"/>
                <a:ea typeface="Arial"/>
                <a:cs typeface="Arial"/>
                <a:sym typeface="Arial"/>
              </a:rPr>
              <a:t>www.gtu.edu.tr</a:t>
            </a:r>
          </a:p>
        </p:txBody>
      </p:sp>
      <p:sp>
        <p:nvSpPr>
          <p:cNvPr id="3" name="AutoShape 3"/>
          <p:cNvSpPr/>
          <p:nvPr/>
        </p:nvSpPr>
        <p:spPr>
          <a:xfrm rot="7147">
            <a:off x="-19070" y="1588669"/>
            <a:ext cx="18326140" cy="0"/>
          </a:xfrm>
          <a:prstGeom prst="line">
            <a:avLst/>
          </a:prstGeom>
          <a:ln w="19050" cap="rnd">
            <a:solidFill>
              <a:srgbClr val="1A2A6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TR"/>
          </a:p>
        </p:txBody>
      </p:sp>
      <p:sp>
        <p:nvSpPr>
          <p:cNvPr id="4" name="AutoShape 4"/>
          <p:cNvSpPr/>
          <p:nvPr/>
        </p:nvSpPr>
        <p:spPr>
          <a:xfrm rot="7147">
            <a:off x="-19070" y="1677564"/>
            <a:ext cx="18326140" cy="0"/>
          </a:xfrm>
          <a:prstGeom prst="line">
            <a:avLst/>
          </a:prstGeom>
          <a:ln w="19050" cap="rnd">
            <a:solidFill>
              <a:srgbClr val="EE801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TR"/>
          </a:p>
        </p:txBody>
      </p:sp>
      <p:sp>
        <p:nvSpPr>
          <p:cNvPr id="5" name="AutoShape 5"/>
          <p:cNvSpPr/>
          <p:nvPr/>
        </p:nvSpPr>
        <p:spPr>
          <a:xfrm rot="7147">
            <a:off x="-19070" y="1779159"/>
            <a:ext cx="18326140" cy="0"/>
          </a:xfrm>
          <a:prstGeom prst="line">
            <a:avLst/>
          </a:prstGeom>
          <a:ln w="19050" cap="rnd">
            <a:solidFill>
              <a:srgbClr val="C1203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TR"/>
          </a:p>
        </p:txBody>
      </p:sp>
      <p:grpSp>
        <p:nvGrpSpPr>
          <p:cNvPr id="6" name="Group 6"/>
          <p:cNvGrpSpPr/>
          <p:nvPr/>
        </p:nvGrpSpPr>
        <p:grpSpPr>
          <a:xfrm>
            <a:off x="429255" y="419101"/>
            <a:ext cx="14632946" cy="1230864"/>
            <a:chOff x="0" y="0"/>
            <a:chExt cx="19510594" cy="164115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9510594" cy="1641153"/>
            </a:xfrm>
            <a:custGeom>
              <a:avLst/>
              <a:gdLst/>
              <a:ahLst/>
              <a:cxnLst/>
              <a:rect l="l" t="t" r="r" b="b"/>
              <a:pathLst>
                <a:path w="19510594" h="1641153">
                  <a:moveTo>
                    <a:pt x="0" y="0"/>
                  </a:moveTo>
                  <a:lnTo>
                    <a:pt x="19510594" y="0"/>
                  </a:lnTo>
                  <a:lnTo>
                    <a:pt x="19510594" y="1641153"/>
                  </a:lnTo>
                  <a:lnTo>
                    <a:pt x="0" y="164115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TR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9510594" cy="167925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128"/>
                </a:lnSpc>
              </a:pPr>
              <a:r>
                <a:rPr lang="en-US" sz="5940" b="1">
                  <a:solidFill>
                    <a:srgbClr val="1A3576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Contents</a:t>
              </a: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429255" y="2658851"/>
            <a:ext cx="8951919" cy="5505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23900" lvl="1" indent="-361950" algn="l">
              <a:lnSpc>
                <a:spcPts val="4800"/>
              </a:lnSpc>
              <a:buFont typeface="Arial"/>
              <a:buChar char="•"/>
            </a:pPr>
            <a:r>
              <a:rPr lang="en-US" sz="4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Motivation</a:t>
            </a:r>
            <a:endParaRPr lang="tr-TR"/>
          </a:p>
          <a:p>
            <a:pPr marL="723900" lvl="1" indent="-361950" algn="l">
              <a:lnSpc>
                <a:spcPts val="4800"/>
              </a:lnSpc>
              <a:buFont typeface="Arial"/>
              <a:buChar char="•"/>
            </a:pPr>
            <a:r>
              <a:rPr lang="en-US" sz="4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Goal of the Project</a:t>
            </a:r>
            <a:endParaRPr lang="en-US" sz="40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23900" lvl="1" indent="-361950" algn="l">
              <a:lnSpc>
                <a:spcPts val="4800"/>
              </a:lnSpc>
              <a:buFont typeface="Arial"/>
              <a:buChar char="•"/>
            </a:pPr>
            <a:r>
              <a:rPr lang="en-US" sz="4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Technologies and Data Sources</a:t>
            </a:r>
            <a:endParaRPr lang="en-US" sz="40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23900" lvl="1" indent="-361950" algn="l">
              <a:lnSpc>
                <a:spcPts val="4800"/>
              </a:lnSpc>
              <a:buFont typeface="Arial"/>
              <a:buChar char="•"/>
            </a:pPr>
            <a:r>
              <a:rPr lang="en-US" sz="4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Pipeline</a:t>
            </a:r>
            <a:endParaRPr lang="en-US" sz="40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23900" lvl="1" indent="-361950" algn="l">
              <a:lnSpc>
                <a:spcPts val="4800"/>
              </a:lnSpc>
              <a:buFont typeface="Arial"/>
              <a:buChar char="•"/>
            </a:pPr>
            <a:r>
              <a:rPr lang="en-US" sz="4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System Architecture</a:t>
            </a:r>
            <a:endParaRPr lang="en-US" sz="40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23900" lvl="1" indent="-361950" algn="l">
              <a:lnSpc>
                <a:spcPts val="4800"/>
              </a:lnSpc>
              <a:buFont typeface="Arial"/>
              <a:buChar char="•"/>
            </a:pPr>
            <a:r>
              <a:rPr lang="en-US" sz="4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Exploratory Data Analysis</a:t>
            </a:r>
            <a:endParaRPr lang="en-US" sz="40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23900" lvl="1" indent="-361950" algn="l">
              <a:lnSpc>
                <a:spcPts val="4800"/>
              </a:lnSpc>
              <a:buFont typeface="Arial"/>
              <a:buChar char="•"/>
            </a:pPr>
            <a:r>
              <a:rPr lang="en-US" sz="4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Engineered Features</a:t>
            </a:r>
            <a:endParaRPr lang="en-US" sz="40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23900" lvl="1" indent="-361950" algn="l">
              <a:lnSpc>
                <a:spcPts val="4800"/>
              </a:lnSpc>
              <a:buFont typeface="Arial"/>
              <a:buChar char="•"/>
            </a:pPr>
            <a:r>
              <a:rPr lang="en-US" sz="4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Machine Learning Models</a:t>
            </a:r>
            <a:endParaRPr lang="en-US" sz="40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23900" lvl="1" indent="-361950" algn="l">
              <a:lnSpc>
                <a:spcPts val="4800"/>
              </a:lnSpc>
              <a:buFont typeface="Arial"/>
              <a:buChar char="•"/>
            </a:pPr>
            <a:r>
              <a:rPr lang="en-US" sz="4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Evaluation Strategy</a:t>
            </a:r>
            <a:endParaRPr lang="en-US" sz="400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grpSp>
        <p:nvGrpSpPr>
          <p:cNvPr id="10" name="Group 10"/>
          <p:cNvGrpSpPr/>
          <p:nvPr/>
        </p:nvGrpSpPr>
        <p:grpSpPr>
          <a:xfrm>
            <a:off x="14911228" y="9736138"/>
            <a:ext cx="1585812" cy="547688"/>
            <a:chOff x="0" y="0"/>
            <a:chExt cx="2114416" cy="73025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114416" cy="730250"/>
            </a:xfrm>
            <a:custGeom>
              <a:avLst/>
              <a:gdLst/>
              <a:ahLst/>
              <a:cxnLst/>
              <a:rect l="l" t="t" r="r" b="b"/>
              <a:pathLst>
                <a:path w="2114416" h="730250">
                  <a:moveTo>
                    <a:pt x="0" y="0"/>
                  </a:moveTo>
                  <a:lnTo>
                    <a:pt x="2114416" y="0"/>
                  </a:lnTo>
                  <a:lnTo>
                    <a:pt x="2114416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TR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19050"/>
              <a:ext cx="2114416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898989"/>
                  </a:solidFill>
                  <a:latin typeface="Arial"/>
                  <a:ea typeface="Arial"/>
                  <a:cs typeface="Arial"/>
                  <a:sym typeface="Arial"/>
                </a:rPr>
                <a:t>14.10.2025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2514600" y="9736138"/>
            <a:ext cx="11988799" cy="547688"/>
            <a:chOff x="0" y="0"/>
            <a:chExt cx="15985066" cy="73025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5985066" cy="730250"/>
            </a:xfrm>
            <a:custGeom>
              <a:avLst/>
              <a:gdLst/>
              <a:ahLst/>
              <a:cxnLst/>
              <a:rect l="l" t="t" r="r" b="b"/>
              <a:pathLst>
                <a:path w="15985066" h="730250">
                  <a:moveTo>
                    <a:pt x="0" y="0"/>
                  </a:moveTo>
                  <a:lnTo>
                    <a:pt x="15985066" y="0"/>
                  </a:lnTo>
                  <a:lnTo>
                    <a:pt x="15985066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TR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19050"/>
              <a:ext cx="15985066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898989"/>
                  </a:solidFill>
                  <a:latin typeface="Arial"/>
                  <a:ea typeface="Arial"/>
                  <a:cs typeface="Arial"/>
                  <a:sym typeface="Arial"/>
                </a:rPr>
                <a:t>CSE496 – First Presentation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6497042" y="9736138"/>
            <a:ext cx="1388533" cy="547688"/>
            <a:chOff x="0" y="0"/>
            <a:chExt cx="1851378" cy="73025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851378" cy="730250"/>
            </a:xfrm>
            <a:custGeom>
              <a:avLst/>
              <a:gdLst/>
              <a:ahLst/>
              <a:cxnLst/>
              <a:rect l="l" t="t" r="r" b="b"/>
              <a:pathLst>
                <a:path w="1851378" h="730250">
                  <a:moveTo>
                    <a:pt x="0" y="0"/>
                  </a:moveTo>
                  <a:lnTo>
                    <a:pt x="1851378" y="0"/>
                  </a:lnTo>
                  <a:lnTo>
                    <a:pt x="1851378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TR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19050"/>
              <a:ext cx="1851378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898989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</a:p>
          </p:txBody>
        </p:sp>
      </p:grpSp>
      <p:sp>
        <p:nvSpPr>
          <p:cNvPr id="19" name="Freeform 19"/>
          <p:cNvSpPr/>
          <p:nvPr/>
        </p:nvSpPr>
        <p:spPr>
          <a:xfrm>
            <a:off x="15713660" y="-423595"/>
            <a:ext cx="2583865" cy="2583865"/>
          </a:xfrm>
          <a:custGeom>
            <a:avLst/>
            <a:gdLst/>
            <a:ahLst/>
            <a:cxnLst/>
            <a:rect l="l" t="t" r="r" b="b"/>
            <a:pathLst>
              <a:path w="2583865" h="2583865">
                <a:moveTo>
                  <a:pt x="0" y="0"/>
                </a:moveTo>
                <a:lnTo>
                  <a:pt x="2583865" y="0"/>
                </a:lnTo>
                <a:lnTo>
                  <a:pt x="2583865" y="2583865"/>
                </a:lnTo>
                <a:lnTo>
                  <a:pt x="0" y="258386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TR"/>
          </a:p>
        </p:txBody>
      </p:sp>
      <p:sp>
        <p:nvSpPr>
          <p:cNvPr id="20" name="TextBox 20"/>
          <p:cNvSpPr txBox="1"/>
          <p:nvPr/>
        </p:nvSpPr>
        <p:spPr>
          <a:xfrm>
            <a:off x="9144000" y="2658851"/>
            <a:ext cx="8951919" cy="3676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3604" lvl="1" indent="-431802" algn="just">
              <a:lnSpc>
                <a:spcPts val="4800"/>
              </a:lnSpc>
              <a:buFont typeface="Arial"/>
              <a:buChar char="•"/>
            </a:pPr>
            <a:r>
              <a:rPr lang="en-US" sz="4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Feature Importance Analysis</a:t>
            </a:r>
          </a:p>
          <a:p>
            <a:pPr marL="863604" lvl="1" indent="-431802" algn="just">
              <a:lnSpc>
                <a:spcPts val="4800"/>
              </a:lnSpc>
              <a:buFont typeface="Arial"/>
              <a:buChar char="•"/>
            </a:pPr>
            <a:r>
              <a:rPr lang="en-US" sz="4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Baseline Results</a:t>
            </a:r>
          </a:p>
          <a:p>
            <a:pPr marL="863604" lvl="1" indent="-431802" algn="just">
              <a:lnSpc>
                <a:spcPts val="4800"/>
              </a:lnSpc>
              <a:buFont typeface="Arial"/>
              <a:buChar char="•"/>
            </a:pPr>
            <a:r>
              <a:rPr lang="en-US" sz="4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Final Model Selection</a:t>
            </a:r>
          </a:p>
          <a:p>
            <a:pPr marL="863604" lvl="1" indent="-431802" algn="just">
              <a:lnSpc>
                <a:spcPts val="4800"/>
              </a:lnSpc>
              <a:buFont typeface="Arial"/>
              <a:buChar char="•"/>
            </a:pPr>
            <a:r>
              <a:rPr lang="en-US" sz="4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Limitations and Future Work</a:t>
            </a:r>
          </a:p>
          <a:p>
            <a:pPr marL="863604" lvl="1" indent="-431802" algn="just">
              <a:lnSpc>
                <a:spcPts val="4800"/>
              </a:lnSpc>
              <a:buFont typeface="Arial"/>
              <a:buChar char="•"/>
            </a:pPr>
            <a:r>
              <a:rPr lang="en-US" sz="4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Conclusion</a:t>
            </a:r>
          </a:p>
          <a:p>
            <a:pPr marL="863604" lvl="1" indent="-431802" algn="just">
              <a:lnSpc>
                <a:spcPts val="4800"/>
              </a:lnSpc>
              <a:buFont typeface="Arial"/>
              <a:buChar char="•"/>
            </a:pPr>
            <a:r>
              <a:rPr lang="en-US" sz="4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References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93694" y="9877110"/>
            <a:ext cx="2232666" cy="3431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000090"/>
                </a:solidFill>
                <a:latin typeface="Arial"/>
                <a:ea typeface="Arial"/>
                <a:cs typeface="Arial"/>
                <a:sym typeface="Arial"/>
              </a:rPr>
              <a:t>www.gtu.edu.tr</a:t>
            </a:r>
          </a:p>
        </p:txBody>
      </p:sp>
      <p:sp>
        <p:nvSpPr>
          <p:cNvPr id="3" name="AutoShape 3"/>
          <p:cNvSpPr/>
          <p:nvPr/>
        </p:nvSpPr>
        <p:spPr>
          <a:xfrm rot="7147">
            <a:off x="-19070" y="1588669"/>
            <a:ext cx="18326140" cy="0"/>
          </a:xfrm>
          <a:prstGeom prst="line">
            <a:avLst/>
          </a:prstGeom>
          <a:ln w="19050" cap="rnd">
            <a:solidFill>
              <a:srgbClr val="1A2A6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TR"/>
          </a:p>
        </p:txBody>
      </p:sp>
      <p:sp>
        <p:nvSpPr>
          <p:cNvPr id="4" name="AutoShape 4"/>
          <p:cNvSpPr/>
          <p:nvPr/>
        </p:nvSpPr>
        <p:spPr>
          <a:xfrm rot="7147">
            <a:off x="-19070" y="1677564"/>
            <a:ext cx="18326140" cy="0"/>
          </a:xfrm>
          <a:prstGeom prst="line">
            <a:avLst/>
          </a:prstGeom>
          <a:ln w="19050" cap="rnd">
            <a:solidFill>
              <a:srgbClr val="EE801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TR"/>
          </a:p>
        </p:txBody>
      </p:sp>
      <p:sp>
        <p:nvSpPr>
          <p:cNvPr id="5" name="AutoShape 5"/>
          <p:cNvSpPr/>
          <p:nvPr/>
        </p:nvSpPr>
        <p:spPr>
          <a:xfrm rot="7147">
            <a:off x="-19070" y="1779159"/>
            <a:ext cx="18326140" cy="0"/>
          </a:xfrm>
          <a:prstGeom prst="line">
            <a:avLst/>
          </a:prstGeom>
          <a:ln w="19050" cap="rnd">
            <a:solidFill>
              <a:srgbClr val="C1203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TR"/>
          </a:p>
        </p:txBody>
      </p:sp>
      <p:grpSp>
        <p:nvGrpSpPr>
          <p:cNvPr id="6" name="Group 6"/>
          <p:cNvGrpSpPr/>
          <p:nvPr/>
        </p:nvGrpSpPr>
        <p:grpSpPr>
          <a:xfrm>
            <a:off x="429255" y="419101"/>
            <a:ext cx="14632946" cy="1230864"/>
            <a:chOff x="0" y="0"/>
            <a:chExt cx="19510594" cy="164115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9510594" cy="1641153"/>
            </a:xfrm>
            <a:custGeom>
              <a:avLst/>
              <a:gdLst/>
              <a:ahLst/>
              <a:cxnLst/>
              <a:rect l="l" t="t" r="r" b="b"/>
              <a:pathLst>
                <a:path w="19510594" h="1641153">
                  <a:moveTo>
                    <a:pt x="0" y="0"/>
                  </a:moveTo>
                  <a:lnTo>
                    <a:pt x="19510594" y="0"/>
                  </a:lnTo>
                  <a:lnTo>
                    <a:pt x="19510594" y="1641153"/>
                  </a:lnTo>
                  <a:lnTo>
                    <a:pt x="0" y="164115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TR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9510594" cy="167925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128"/>
                </a:lnSpc>
              </a:pPr>
              <a:r>
                <a:rPr lang="en-US" sz="5940" b="1">
                  <a:solidFill>
                    <a:srgbClr val="1A3576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Motivation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4911228" y="9736138"/>
            <a:ext cx="1585812" cy="547688"/>
            <a:chOff x="0" y="0"/>
            <a:chExt cx="2114416" cy="73025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114416" cy="730250"/>
            </a:xfrm>
            <a:custGeom>
              <a:avLst/>
              <a:gdLst/>
              <a:ahLst/>
              <a:cxnLst/>
              <a:rect l="l" t="t" r="r" b="b"/>
              <a:pathLst>
                <a:path w="2114416" h="730250">
                  <a:moveTo>
                    <a:pt x="0" y="0"/>
                  </a:moveTo>
                  <a:lnTo>
                    <a:pt x="2114416" y="0"/>
                  </a:lnTo>
                  <a:lnTo>
                    <a:pt x="2114416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TR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19050"/>
              <a:ext cx="2114416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898989"/>
                  </a:solidFill>
                  <a:latin typeface="Arial"/>
                  <a:ea typeface="Arial"/>
                  <a:cs typeface="Arial"/>
                  <a:sym typeface="Arial"/>
                </a:rPr>
                <a:t>14.10.2025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2514600" y="9736138"/>
            <a:ext cx="11988799" cy="547688"/>
            <a:chOff x="0" y="0"/>
            <a:chExt cx="15985066" cy="73025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5985066" cy="730250"/>
            </a:xfrm>
            <a:custGeom>
              <a:avLst/>
              <a:gdLst/>
              <a:ahLst/>
              <a:cxnLst/>
              <a:rect l="l" t="t" r="r" b="b"/>
              <a:pathLst>
                <a:path w="15985066" h="730250">
                  <a:moveTo>
                    <a:pt x="0" y="0"/>
                  </a:moveTo>
                  <a:lnTo>
                    <a:pt x="15985066" y="0"/>
                  </a:lnTo>
                  <a:lnTo>
                    <a:pt x="15985066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TR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19050"/>
              <a:ext cx="15985066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898989"/>
                  </a:solidFill>
                  <a:latin typeface="Arial"/>
                  <a:ea typeface="Arial"/>
                  <a:cs typeface="Arial"/>
                  <a:sym typeface="Arial"/>
                </a:rPr>
                <a:t>CSE496 – First Presentation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6497042" y="9736138"/>
            <a:ext cx="1388533" cy="547688"/>
            <a:chOff x="0" y="0"/>
            <a:chExt cx="1851378" cy="73025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851378" cy="730250"/>
            </a:xfrm>
            <a:custGeom>
              <a:avLst/>
              <a:gdLst/>
              <a:ahLst/>
              <a:cxnLst/>
              <a:rect l="l" t="t" r="r" b="b"/>
              <a:pathLst>
                <a:path w="1851378" h="730250">
                  <a:moveTo>
                    <a:pt x="0" y="0"/>
                  </a:moveTo>
                  <a:lnTo>
                    <a:pt x="1851378" y="0"/>
                  </a:lnTo>
                  <a:lnTo>
                    <a:pt x="1851378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TR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19050"/>
              <a:ext cx="1851378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898989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</a:p>
          </p:txBody>
        </p:sp>
      </p:grpSp>
      <p:sp>
        <p:nvSpPr>
          <p:cNvPr id="19" name="Freeform 19"/>
          <p:cNvSpPr/>
          <p:nvPr/>
        </p:nvSpPr>
        <p:spPr>
          <a:xfrm>
            <a:off x="15713660" y="-423595"/>
            <a:ext cx="2583865" cy="2583865"/>
          </a:xfrm>
          <a:custGeom>
            <a:avLst/>
            <a:gdLst/>
            <a:ahLst/>
            <a:cxnLst/>
            <a:rect l="l" t="t" r="r" b="b"/>
            <a:pathLst>
              <a:path w="2583865" h="2583865">
                <a:moveTo>
                  <a:pt x="0" y="0"/>
                </a:moveTo>
                <a:lnTo>
                  <a:pt x="2583865" y="0"/>
                </a:lnTo>
                <a:lnTo>
                  <a:pt x="2583865" y="2583865"/>
                </a:lnTo>
                <a:lnTo>
                  <a:pt x="0" y="258386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TR"/>
          </a:p>
        </p:txBody>
      </p:sp>
      <p:sp>
        <p:nvSpPr>
          <p:cNvPr id="22" name="Metin kutusu 21">
            <a:extLst>
              <a:ext uri="{FF2B5EF4-FFF2-40B4-BE49-F238E27FC236}">
                <a16:creationId xmlns:a16="http://schemas.microsoft.com/office/drawing/2014/main" id="{3AFA5D3E-89CD-F888-88B3-F57DE0D90489}"/>
              </a:ext>
            </a:extLst>
          </p:cNvPr>
          <p:cNvSpPr txBox="1"/>
          <p:nvPr/>
        </p:nvSpPr>
        <p:spPr>
          <a:xfrm>
            <a:off x="5297015" y="2845047"/>
            <a:ext cx="7691550" cy="59093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Font typeface="Arial"/>
              <a:buChar char="•"/>
            </a:pPr>
            <a:r>
              <a:rPr lang="tr-TR" sz="3600" b="1" err="1">
                <a:latin typeface="Arial"/>
                <a:cs typeface="Arial"/>
              </a:rPr>
              <a:t>Battery</a:t>
            </a:r>
            <a:r>
              <a:rPr lang="tr-TR" sz="3600" b="1" dirty="0">
                <a:latin typeface="Arial"/>
                <a:cs typeface="Arial"/>
              </a:rPr>
              <a:t> </a:t>
            </a:r>
            <a:r>
              <a:rPr lang="tr-TR" sz="3600" b="1" err="1">
                <a:latin typeface="Arial"/>
                <a:cs typeface="Arial"/>
              </a:rPr>
              <a:t>performance</a:t>
            </a:r>
            <a:r>
              <a:rPr lang="tr-TR" sz="3600" dirty="0">
                <a:latin typeface="Arial"/>
                <a:cs typeface="Arial"/>
              </a:rPr>
              <a:t> </a:t>
            </a:r>
            <a:r>
              <a:rPr lang="tr-TR" sz="3600" err="1">
                <a:latin typeface="Arial"/>
                <a:cs typeface="Arial"/>
              </a:rPr>
              <a:t>prediction</a:t>
            </a:r>
            <a:r>
              <a:rPr lang="tr-TR" sz="3600" dirty="0">
                <a:latin typeface="Arial"/>
                <a:cs typeface="Arial"/>
              </a:rPr>
              <a:t> is </a:t>
            </a:r>
            <a:r>
              <a:rPr lang="tr-TR" sz="3600" err="1">
                <a:latin typeface="Arial"/>
                <a:cs typeface="Arial"/>
              </a:rPr>
              <a:t>criticial</a:t>
            </a:r>
            <a:r>
              <a:rPr lang="tr-TR" sz="3600" dirty="0">
                <a:latin typeface="Arial"/>
                <a:cs typeface="Arial"/>
              </a:rPr>
              <a:t> </a:t>
            </a:r>
            <a:r>
              <a:rPr lang="tr-TR" sz="3600" err="1">
                <a:latin typeface="Arial"/>
                <a:cs typeface="Arial"/>
              </a:rPr>
              <a:t>for</a:t>
            </a:r>
            <a:r>
              <a:rPr lang="tr-TR" sz="3600" dirty="0">
                <a:latin typeface="Arial"/>
                <a:cs typeface="Arial"/>
              </a:rPr>
              <a:t>:</a:t>
            </a:r>
            <a:br>
              <a:rPr lang="en-US" sz="3600" dirty="0">
                <a:latin typeface="Arial"/>
              </a:rPr>
            </a:br>
            <a:r>
              <a:rPr lang="tr-TR" sz="3600" dirty="0">
                <a:latin typeface="Arial"/>
                <a:ea typeface="Calibri"/>
                <a:cs typeface="Calibri"/>
              </a:rPr>
              <a:t> </a:t>
            </a:r>
            <a:r>
              <a:rPr lang="tr-TR" sz="3600" err="1">
                <a:latin typeface="Arial"/>
                <a:ea typeface="Calibri"/>
                <a:cs typeface="Calibri"/>
              </a:rPr>
              <a:t>Electric</a:t>
            </a:r>
            <a:r>
              <a:rPr lang="tr-TR" sz="3600" dirty="0">
                <a:latin typeface="Arial"/>
                <a:ea typeface="Calibri"/>
                <a:cs typeface="Calibri"/>
              </a:rPr>
              <a:t> </a:t>
            </a:r>
            <a:r>
              <a:rPr lang="tr-TR" sz="3600" err="1">
                <a:latin typeface="Arial"/>
                <a:ea typeface="Calibri"/>
                <a:cs typeface="Calibri"/>
              </a:rPr>
              <a:t>vehicles</a:t>
            </a:r>
            <a:br>
              <a:rPr lang="tr-TR" sz="3600" dirty="0">
                <a:latin typeface="Arial"/>
                <a:ea typeface="Calibri"/>
                <a:cs typeface="Calibri"/>
              </a:rPr>
            </a:br>
            <a:r>
              <a:rPr lang="tr-TR" sz="3600" dirty="0">
                <a:latin typeface="Arial"/>
                <a:ea typeface="Calibri"/>
                <a:cs typeface="Calibri"/>
              </a:rPr>
              <a:t> </a:t>
            </a:r>
            <a:r>
              <a:rPr lang="tr-TR" sz="3600" err="1">
                <a:latin typeface="Arial"/>
                <a:ea typeface="Calibri"/>
                <a:cs typeface="Calibri"/>
              </a:rPr>
              <a:t>Energy</a:t>
            </a:r>
            <a:r>
              <a:rPr lang="tr-TR" sz="3600" dirty="0">
                <a:latin typeface="Arial"/>
                <a:ea typeface="Calibri"/>
                <a:cs typeface="Calibri"/>
              </a:rPr>
              <a:t> </a:t>
            </a:r>
            <a:r>
              <a:rPr lang="tr-TR" sz="3600" err="1">
                <a:latin typeface="Arial"/>
                <a:ea typeface="Calibri"/>
                <a:cs typeface="Calibri"/>
              </a:rPr>
              <a:t>storage</a:t>
            </a:r>
            <a:r>
              <a:rPr lang="tr-TR" sz="3600" dirty="0">
                <a:latin typeface="Arial"/>
                <a:ea typeface="Calibri"/>
                <a:cs typeface="Calibri"/>
              </a:rPr>
              <a:t> </a:t>
            </a:r>
            <a:r>
              <a:rPr lang="tr-TR" sz="3600" err="1">
                <a:latin typeface="Arial"/>
                <a:ea typeface="Calibri"/>
                <a:cs typeface="Calibri"/>
              </a:rPr>
              <a:t>systems</a:t>
            </a:r>
            <a:br>
              <a:rPr lang="tr-TR" sz="3600" dirty="0">
                <a:latin typeface="Arial"/>
                <a:ea typeface="Calibri"/>
                <a:cs typeface="Calibri"/>
              </a:rPr>
            </a:br>
            <a:r>
              <a:rPr lang="tr-TR" sz="3600" dirty="0">
                <a:latin typeface="Arial"/>
                <a:ea typeface="Calibri"/>
                <a:cs typeface="Calibri"/>
              </a:rPr>
              <a:t> </a:t>
            </a:r>
            <a:r>
              <a:rPr lang="tr-TR" sz="3600" err="1">
                <a:latin typeface="Arial"/>
                <a:ea typeface="Calibri"/>
                <a:cs typeface="Calibri"/>
              </a:rPr>
              <a:t>Safety</a:t>
            </a:r>
            <a:r>
              <a:rPr lang="tr-TR" sz="3600" dirty="0">
                <a:latin typeface="Arial"/>
                <a:ea typeface="Calibri"/>
                <a:cs typeface="Calibri"/>
              </a:rPr>
              <a:t> </a:t>
            </a:r>
            <a:r>
              <a:rPr lang="tr-TR" sz="3600" err="1">
                <a:latin typeface="Arial"/>
                <a:ea typeface="Calibri"/>
                <a:cs typeface="Calibri"/>
              </a:rPr>
              <a:t>and</a:t>
            </a:r>
            <a:r>
              <a:rPr lang="tr-TR" sz="3600" dirty="0">
                <a:latin typeface="Arial"/>
                <a:ea typeface="Calibri"/>
                <a:cs typeface="Calibri"/>
              </a:rPr>
              <a:t> </a:t>
            </a:r>
            <a:r>
              <a:rPr lang="tr-TR" sz="3600" err="1">
                <a:latin typeface="Arial"/>
                <a:ea typeface="Calibri"/>
                <a:cs typeface="Calibri"/>
              </a:rPr>
              <a:t>cost</a:t>
            </a:r>
            <a:r>
              <a:rPr lang="tr-TR" sz="3600" dirty="0">
                <a:latin typeface="Arial"/>
                <a:ea typeface="Calibri"/>
                <a:cs typeface="Calibri"/>
              </a:rPr>
              <a:t> </a:t>
            </a:r>
            <a:r>
              <a:rPr lang="tr-TR" sz="3600" err="1">
                <a:latin typeface="Arial"/>
                <a:ea typeface="Calibri"/>
                <a:cs typeface="Calibri"/>
              </a:rPr>
              <a:t>optimization</a:t>
            </a:r>
            <a:endParaRPr lang="tr-TR" sz="3600" dirty="0">
              <a:latin typeface="Arial"/>
              <a:ea typeface="Calibri"/>
              <a:cs typeface="Calibri"/>
            </a:endParaRPr>
          </a:p>
          <a:p>
            <a:endParaRPr lang="tr-TR" sz="3600" dirty="0">
              <a:latin typeface="Arial"/>
              <a:ea typeface="Calibri"/>
              <a:cs typeface="Calibri"/>
            </a:endParaRPr>
          </a:p>
          <a:p>
            <a:pPr marL="457200" indent="-457200">
              <a:buFont typeface="Arial"/>
              <a:buChar char="•"/>
            </a:pPr>
            <a:r>
              <a:rPr lang="tr-TR" sz="3600" b="1" dirty="0" err="1">
                <a:latin typeface="Arial"/>
                <a:ea typeface="Calibri"/>
                <a:cs typeface="Calibri"/>
              </a:rPr>
              <a:t>Battery</a:t>
            </a:r>
            <a:r>
              <a:rPr lang="tr-TR" sz="3600" b="1" dirty="0">
                <a:latin typeface="Arial"/>
                <a:ea typeface="Calibri"/>
                <a:cs typeface="Calibri"/>
              </a:rPr>
              <a:t> </a:t>
            </a:r>
            <a:r>
              <a:rPr lang="tr-TR" sz="3600" b="1" dirty="0" err="1">
                <a:latin typeface="Arial"/>
                <a:ea typeface="Calibri"/>
                <a:cs typeface="Calibri"/>
              </a:rPr>
              <a:t>degradation</a:t>
            </a:r>
            <a:r>
              <a:rPr lang="tr-TR" sz="3600" dirty="0">
                <a:latin typeface="Arial"/>
                <a:ea typeface="Calibri"/>
                <a:cs typeface="Calibri"/>
              </a:rPr>
              <a:t> is: </a:t>
            </a:r>
            <a:br>
              <a:rPr lang="tr-TR" sz="3600" dirty="0">
                <a:latin typeface="Arial"/>
                <a:ea typeface="Calibri"/>
                <a:cs typeface="Calibri"/>
              </a:rPr>
            </a:br>
            <a:r>
              <a:rPr lang="tr-TR" sz="3600" dirty="0">
                <a:latin typeface="Arial"/>
                <a:ea typeface="Calibri"/>
                <a:cs typeface="Calibri"/>
              </a:rPr>
              <a:t> </a:t>
            </a:r>
            <a:r>
              <a:rPr lang="tr-TR" sz="3600" dirty="0" err="1">
                <a:latin typeface="Arial"/>
                <a:ea typeface="Calibri"/>
                <a:cs typeface="Calibri"/>
              </a:rPr>
              <a:t>Nonlinear</a:t>
            </a:r>
            <a:br>
              <a:rPr lang="en-US" sz="3600" dirty="0">
                <a:latin typeface="Arial"/>
              </a:rPr>
            </a:br>
            <a:r>
              <a:rPr lang="tr-TR" sz="3600" dirty="0">
                <a:latin typeface="Arial"/>
                <a:ea typeface="Calibri"/>
                <a:cs typeface="Calibri"/>
              </a:rPr>
              <a:t> Cell-</a:t>
            </a:r>
            <a:r>
              <a:rPr lang="tr-TR" sz="3600" dirty="0" err="1">
                <a:latin typeface="Arial"/>
                <a:ea typeface="Calibri"/>
                <a:cs typeface="Calibri"/>
              </a:rPr>
              <a:t>specific</a:t>
            </a:r>
            <a:br>
              <a:rPr lang="tr-TR" sz="3600" dirty="0">
                <a:latin typeface="Arial"/>
                <a:ea typeface="Calibri"/>
                <a:cs typeface="Calibri"/>
              </a:rPr>
            </a:br>
            <a:r>
              <a:rPr lang="tr-TR" sz="3600" dirty="0">
                <a:latin typeface="Arial"/>
                <a:ea typeface="Calibri"/>
                <a:cs typeface="Calibri"/>
              </a:rPr>
              <a:t> </a:t>
            </a:r>
            <a:r>
              <a:rPr lang="tr-TR" sz="3600" dirty="0" err="1">
                <a:latin typeface="Arial"/>
                <a:ea typeface="Calibri"/>
                <a:cs typeface="Calibri"/>
              </a:rPr>
              <a:t>Difficult</a:t>
            </a:r>
            <a:r>
              <a:rPr lang="tr-TR" sz="3600" dirty="0">
                <a:latin typeface="Arial"/>
                <a:ea typeface="Calibri"/>
                <a:cs typeface="Calibri"/>
              </a:rPr>
              <a:t> </a:t>
            </a:r>
            <a:r>
              <a:rPr lang="tr-TR" sz="3600" dirty="0" err="1">
                <a:latin typeface="Arial"/>
                <a:ea typeface="Calibri"/>
                <a:cs typeface="Calibri"/>
              </a:rPr>
              <a:t>to</a:t>
            </a:r>
            <a:r>
              <a:rPr lang="tr-TR" sz="3600" dirty="0">
                <a:latin typeface="Arial"/>
                <a:ea typeface="Calibri"/>
                <a:cs typeface="Calibri"/>
              </a:rPr>
              <a:t> model </a:t>
            </a:r>
            <a:r>
              <a:rPr lang="tr-TR" sz="3600" dirty="0" err="1">
                <a:latin typeface="Arial"/>
                <a:ea typeface="Calibri"/>
                <a:cs typeface="Calibri"/>
              </a:rPr>
              <a:t>physically</a:t>
            </a:r>
            <a:br>
              <a:rPr lang="tr-TR" dirty="0">
                <a:ea typeface="Calibri"/>
                <a:cs typeface="Calibri"/>
              </a:rPr>
            </a:br>
            <a:r>
              <a:rPr lang="tr-TR" dirty="0">
                <a:ea typeface="Calibri"/>
                <a:cs typeface="Calibri"/>
              </a:rPr>
              <a:t> 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93694" y="9877110"/>
            <a:ext cx="2232666" cy="3431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000090"/>
                </a:solidFill>
                <a:latin typeface="Arial"/>
                <a:ea typeface="Arial"/>
                <a:cs typeface="Arial"/>
                <a:sym typeface="Arial"/>
              </a:rPr>
              <a:t>www.gtu.edu.tr</a:t>
            </a:r>
          </a:p>
        </p:txBody>
      </p:sp>
      <p:sp>
        <p:nvSpPr>
          <p:cNvPr id="3" name="AutoShape 3"/>
          <p:cNvSpPr/>
          <p:nvPr/>
        </p:nvSpPr>
        <p:spPr>
          <a:xfrm rot="7147">
            <a:off x="-19070" y="1588669"/>
            <a:ext cx="18326140" cy="0"/>
          </a:xfrm>
          <a:prstGeom prst="line">
            <a:avLst/>
          </a:prstGeom>
          <a:ln w="19050" cap="rnd">
            <a:solidFill>
              <a:srgbClr val="1A2A6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TR"/>
          </a:p>
        </p:txBody>
      </p:sp>
      <p:sp>
        <p:nvSpPr>
          <p:cNvPr id="4" name="AutoShape 4"/>
          <p:cNvSpPr/>
          <p:nvPr/>
        </p:nvSpPr>
        <p:spPr>
          <a:xfrm rot="7147">
            <a:off x="-19070" y="1677564"/>
            <a:ext cx="18326140" cy="0"/>
          </a:xfrm>
          <a:prstGeom prst="line">
            <a:avLst/>
          </a:prstGeom>
          <a:ln w="19050" cap="rnd">
            <a:solidFill>
              <a:srgbClr val="EE801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TR"/>
          </a:p>
        </p:txBody>
      </p:sp>
      <p:sp>
        <p:nvSpPr>
          <p:cNvPr id="5" name="AutoShape 5"/>
          <p:cNvSpPr/>
          <p:nvPr/>
        </p:nvSpPr>
        <p:spPr>
          <a:xfrm rot="7147">
            <a:off x="-19070" y="1779159"/>
            <a:ext cx="18326140" cy="0"/>
          </a:xfrm>
          <a:prstGeom prst="line">
            <a:avLst/>
          </a:prstGeom>
          <a:ln w="19050" cap="rnd">
            <a:solidFill>
              <a:srgbClr val="C1203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TR"/>
          </a:p>
        </p:txBody>
      </p:sp>
      <p:grpSp>
        <p:nvGrpSpPr>
          <p:cNvPr id="6" name="Group 6"/>
          <p:cNvGrpSpPr/>
          <p:nvPr/>
        </p:nvGrpSpPr>
        <p:grpSpPr>
          <a:xfrm>
            <a:off x="429255" y="419101"/>
            <a:ext cx="14632946" cy="1230864"/>
            <a:chOff x="0" y="0"/>
            <a:chExt cx="19510594" cy="164115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9510594" cy="1641153"/>
            </a:xfrm>
            <a:custGeom>
              <a:avLst/>
              <a:gdLst/>
              <a:ahLst/>
              <a:cxnLst/>
              <a:rect l="l" t="t" r="r" b="b"/>
              <a:pathLst>
                <a:path w="19510594" h="1641153">
                  <a:moveTo>
                    <a:pt x="0" y="0"/>
                  </a:moveTo>
                  <a:lnTo>
                    <a:pt x="19510594" y="0"/>
                  </a:lnTo>
                  <a:lnTo>
                    <a:pt x="19510594" y="1641153"/>
                  </a:lnTo>
                  <a:lnTo>
                    <a:pt x="0" y="164115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TR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9510594" cy="167925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128"/>
                </a:lnSpc>
              </a:pPr>
              <a:r>
                <a:rPr lang="en-US" sz="5940" b="1">
                  <a:solidFill>
                    <a:srgbClr val="1A3576"/>
                  </a:solidFill>
                  <a:latin typeface="Arial Bold"/>
                  <a:ea typeface="Arial Bold"/>
                  <a:cs typeface="Arial Bold"/>
                  <a:sym typeface="Arial Bold"/>
                </a:rPr>
                <a:t>Goal of the Project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4911228" y="9736138"/>
            <a:ext cx="1585812" cy="547688"/>
            <a:chOff x="0" y="0"/>
            <a:chExt cx="2114416" cy="73025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114416" cy="730250"/>
            </a:xfrm>
            <a:custGeom>
              <a:avLst/>
              <a:gdLst/>
              <a:ahLst/>
              <a:cxnLst/>
              <a:rect l="l" t="t" r="r" b="b"/>
              <a:pathLst>
                <a:path w="2114416" h="730250">
                  <a:moveTo>
                    <a:pt x="0" y="0"/>
                  </a:moveTo>
                  <a:lnTo>
                    <a:pt x="2114416" y="0"/>
                  </a:lnTo>
                  <a:lnTo>
                    <a:pt x="2114416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TR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19050"/>
              <a:ext cx="2114416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898989"/>
                  </a:solidFill>
                  <a:latin typeface="Arial"/>
                  <a:ea typeface="Arial"/>
                  <a:cs typeface="Arial"/>
                  <a:sym typeface="Arial"/>
                </a:rPr>
                <a:t>14.10.2025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2514600" y="9736138"/>
            <a:ext cx="11988799" cy="547688"/>
            <a:chOff x="0" y="0"/>
            <a:chExt cx="15985066" cy="73025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5985066" cy="730250"/>
            </a:xfrm>
            <a:custGeom>
              <a:avLst/>
              <a:gdLst/>
              <a:ahLst/>
              <a:cxnLst/>
              <a:rect l="l" t="t" r="r" b="b"/>
              <a:pathLst>
                <a:path w="15985066" h="730250">
                  <a:moveTo>
                    <a:pt x="0" y="0"/>
                  </a:moveTo>
                  <a:lnTo>
                    <a:pt x="15985066" y="0"/>
                  </a:lnTo>
                  <a:lnTo>
                    <a:pt x="15985066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TR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19050"/>
              <a:ext cx="15985066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898989"/>
                  </a:solidFill>
                  <a:latin typeface="Arial"/>
                  <a:ea typeface="Arial"/>
                  <a:cs typeface="Arial"/>
                  <a:sym typeface="Arial"/>
                </a:rPr>
                <a:t>CSE496 – First Presentation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6497042" y="9736138"/>
            <a:ext cx="1388533" cy="547688"/>
            <a:chOff x="0" y="0"/>
            <a:chExt cx="1851378" cy="73025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851378" cy="730250"/>
            </a:xfrm>
            <a:custGeom>
              <a:avLst/>
              <a:gdLst/>
              <a:ahLst/>
              <a:cxnLst/>
              <a:rect l="l" t="t" r="r" b="b"/>
              <a:pathLst>
                <a:path w="1851378" h="730250">
                  <a:moveTo>
                    <a:pt x="0" y="0"/>
                  </a:moveTo>
                  <a:lnTo>
                    <a:pt x="1851378" y="0"/>
                  </a:lnTo>
                  <a:lnTo>
                    <a:pt x="1851378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TR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19050"/>
              <a:ext cx="1851378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898989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9883462" y="3890614"/>
            <a:ext cx="7864480" cy="35588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960"/>
              </a:lnSpc>
            </a:pPr>
            <a:r>
              <a:rPr lang="en-US" sz="3300" dirty="0">
                <a:latin typeface="Arial"/>
                <a:ea typeface="Arial"/>
                <a:cs typeface="Arial"/>
                <a:sym typeface="Arial"/>
              </a:rPr>
              <a:t>This </a:t>
            </a:r>
            <a:r>
              <a:rPr lang="en-US" sz="33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aims to estimate </a:t>
            </a:r>
            <a:r>
              <a:rPr lang="en-US" sz="33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 Bold"/>
              </a:rPr>
              <a:t>the total</a:t>
            </a:r>
            <a:r>
              <a:rPr lang="en-US" sz="3300" b="1" dirty="0">
                <a:solidFill>
                  <a:srgbClr val="000000"/>
                </a:solidFill>
                <a:latin typeface="Arial Bold"/>
                <a:ea typeface="Arial"/>
                <a:cs typeface="Arial Bold"/>
                <a:sym typeface="Arial Bold"/>
              </a:rPr>
              <a:t> lifespan</a:t>
            </a:r>
            <a:r>
              <a:rPr lang="en-US" sz="33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of the battery using sensor and performance data obtained from the first 100–50–25 charge/discharge cycles of the batteries.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393695" y="2754944"/>
            <a:ext cx="3004035" cy="1281257"/>
            <a:chOff x="0" y="0"/>
            <a:chExt cx="791186" cy="33745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791186" cy="337450"/>
            </a:xfrm>
            <a:custGeom>
              <a:avLst/>
              <a:gdLst/>
              <a:ahLst/>
              <a:cxnLst/>
              <a:rect l="l" t="t" r="r" b="b"/>
              <a:pathLst>
                <a:path w="791186" h="337450">
                  <a:moveTo>
                    <a:pt x="0" y="0"/>
                  </a:moveTo>
                  <a:lnTo>
                    <a:pt x="791186" y="0"/>
                  </a:lnTo>
                  <a:lnTo>
                    <a:pt x="791186" y="337450"/>
                  </a:lnTo>
                  <a:lnTo>
                    <a:pt x="0" y="3374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7C898B"/>
              </a:solidFill>
              <a:prstDash val="solid"/>
              <a:miter/>
            </a:ln>
          </p:spPr>
          <p:txBody>
            <a:bodyPr/>
            <a:lstStyle/>
            <a:p>
              <a:endParaRPr lang="en-TR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57150"/>
              <a:ext cx="791186" cy="394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9"/>
                </a:lnSpc>
              </a:pPr>
              <a:r>
                <a:rPr lang="en-US" sz="2299" b="1" spc="-45">
                  <a:solidFill>
                    <a:srgbClr val="253439"/>
                  </a:solidFill>
                  <a:latin typeface="Lato Bold"/>
                  <a:ea typeface="Lato Bold"/>
                  <a:cs typeface="Lato Bold"/>
                  <a:sym typeface="Lato Bold"/>
                </a:rPr>
                <a:t> Battery Data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3202772" y="4559622"/>
            <a:ext cx="3004035" cy="1281257"/>
            <a:chOff x="0" y="0"/>
            <a:chExt cx="791186" cy="33745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791186" cy="337450"/>
            </a:xfrm>
            <a:custGeom>
              <a:avLst/>
              <a:gdLst/>
              <a:ahLst/>
              <a:cxnLst/>
              <a:rect l="l" t="t" r="r" b="b"/>
              <a:pathLst>
                <a:path w="791186" h="337450">
                  <a:moveTo>
                    <a:pt x="0" y="0"/>
                  </a:moveTo>
                  <a:lnTo>
                    <a:pt x="791186" y="0"/>
                  </a:lnTo>
                  <a:lnTo>
                    <a:pt x="791186" y="337450"/>
                  </a:lnTo>
                  <a:lnTo>
                    <a:pt x="0" y="3374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7C898B"/>
              </a:solidFill>
              <a:prstDash val="solid"/>
              <a:miter/>
            </a:ln>
          </p:spPr>
          <p:txBody>
            <a:bodyPr/>
            <a:lstStyle/>
            <a:p>
              <a:endParaRPr lang="en-TR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57150"/>
              <a:ext cx="791186" cy="394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9"/>
                </a:lnSpc>
              </a:pPr>
              <a:r>
                <a:rPr lang="en-US" sz="2299" b="1" spc="-45">
                  <a:solidFill>
                    <a:srgbClr val="253439"/>
                  </a:solidFill>
                  <a:latin typeface="Lato Bold"/>
                  <a:ea typeface="Lato Bold"/>
                  <a:cs typeface="Lato Bold"/>
                  <a:sym typeface="Lato Bold"/>
                </a:rPr>
                <a:t>AI Models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5993347" y="6480421"/>
            <a:ext cx="3004035" cy="1281257"/>
            <a:chOff x="0" y="0"/>
            <a:chExt cx="791186" cy="33745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791186" cy="337450"/>
            </a:xfrm>
            <a:custGeom>
              <a:avLst/>
              <a:gdLst/>
              <a:ahLst/>
              <a:cxnLst/>
              <a:rect l="l" t="t" r="r" b="b"/>
              <a:pathLst>
                <a:path w="791186" h="337450">
                  <a:moveTo>
                    <a:pt x="0" y="0"/>
                  </a:moveTo>
                  <a:lnTo>
                    <a:pt x="791186" y="0"/>
                  </a:lnTo>
                  <a:lnTo>
                    <a:pt x="791186" y="337450"/>
                  </a:lnTo>
                  <a:lnTo>
                    <a:pt x="0" y="3374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7C898B"/>
              </a:solidFill>
              <a:prstDash val="solid"/>
              <a:miter/>
            </a:ln>
          </p:spPr>
          <p:txBody>
            <a:bodyPr/>
            <a:lstStyle/>
            <a:p>
              <a:endParaRPr lang="en-TR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-57150"/>
              <a:ext cx="791186" cy="394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9"/>
                </a:lnSpc>
              </a:pPr>
              <a:r>
                <a:rPr lang="en-US" sz="2299" b="1" spc="-45">
                  <a:solidFill>
                    <a:srgbClr val="253439"/>
                  </a:solidFill>
                  <a:latin typeface="Lato Bold"/>
                  <a:ea typeface="Lato Bold"/>
                  <a:cs typeface="Lato Bold"/>
                  <a:sym typeface="Lato Bold"/>
                </a:rPr>
                <a:t>Confidence / Reliability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3666865" y="3205204"/>
            <a:ext cx="1037924" cy="1056974"/>
            <a:chOff x="0" y="0"/>
            <a:chExt cx="1383899" cy="1409299"/>
          </a:xfrm>
        </p:grpSpPr>
        <p:sp>
          <p:nvSpPr>
            <p:cNvPr id="29" name="AutoShape 29"/>
            <p:cNvSpPr/>
            <p:nvPr/>
          </p:nvSpPr>
          <p:spPr>
            <a:xfrm>
              <a:off x="0" y="25400"/>
              <a:ext cx="1383899" cy="0"/>
            </a:xfrm>
            <a:prstGeom prst="line">
              <a:avLst/>
            </a:prstGeom>
            <a:ln w="50800" cap="flat">
              <a:solidFill>
                <a:srgbClr val="1A2A63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TR"/>
            </a:p>
          </p:txBody>
        </p:sp>
        <p:sp>
          <p:nvSpPr>
            <p:cNvPr id="30" name="AutoShape 30"/>
            <p:cNvSpPr/>
            <p:nvPr/>
          </p:nvSpPr>
          <p:spPr>
            <a:xfrm flipV="1">
              <a:off x="1358499" y="25400"/>
              <a:ext cx="0" cy="1383899"/>
            </a:xfrm>
            <a:prstGeom prst="line">
              <a:avLst/>
            </a:prstGeom>
            <a:ln w="50800" cap="flat">
              <a:solidFill>
                <a:srgbClr val="1A2A63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TR"/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6486265" y="5143500"/>
            <a:ext cx="1037924" cy="1056974"/>
            <a:chOff x="0" y="0"/>
            <a:chExt cx="1383899" cy="1409299"/>
          </a:xfrm>
        </p:grpSpPr>
        <p:sp>
          <p:nvSpPr>
            <p:cNvPr id="32" name="AutoShape 32"/>
            <p:cNvSpPr/>
            <p:nvPr/>
          </p:nvSpPr>
          <p:spPr>
            <a:xfrm>
              <a:off x="0" y="25400"/>
              <a:ext cx="1383899" cy="0"/>
            </a:xfrm>
            <a:prstGeom prst="line">
              <a:avLst/>
            </a:prstGeom>
            <a:ln w="50800" cap="flat">
              <a:solidFill>
                <a:srgbClr val="1A2A63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TR"/>
            </a:p>
          </p:txBody>
        </p:sp>
        <p:sp>
          <p:nvSpPr>
            <p:cNvPr id="33" name="AutoShape 33"/>
            <p:cNvSpPr/>
            <p:nvPr/>
          </p:nvSpPr>
          <p:spPr>
            <a:xfrm flipV="1">
              <a:off x="1358499" y="25400"/>
              <a:ext cx="0" cy="1383899"/>
            </a:xfrm>
            <a:prstGeom prst="line">
              <a:avLst/>
            </a:prstGeom>
            <a:ln w="50800" cap="flat">
              <a:solidFill>
                <a:srgbClr val="1A2A63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TR"/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4537250" y="4115581"/>
            <a:ext cx="335079" cy="293195"/>
            <a:chOff x="0" y="0"/>
            <a:chExt cx="812800" cy="71120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711200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71120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/>
            <a:lstStyle/>
            <a:p>
              <a:endParaRPr lang="en-TR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27000" y="31750"/>
              <a:ext cx="558800" cy="3492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/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7327824" y="6053877"/>
            <a:ext cx="335079" cy="293195"/>
            <a:chOff x="0" y="0"/>
            <a:chExt cx="812800" cy="7112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711200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71120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/>
            <a:lstStyle/>
            <a:p>
              <a:endParaRPr lang="en-TR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27000" y="31750"/>
              <a:ext cx="558800" cy="3492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/>
            </a:p>
          </p:txBody>
        </p:sp>
      </p:grpSp>
      <p:sp>
        <p:nvSpPr>
          <p:cNvPr id="40" name="Freeform 40"/>
          <p:cNvSpPr/>
          <p:nvPr/>
        </p:nvSpPr>
        <p:spPr>
          <a:xfrm>
            <a:off x="15713660" y="-423595"/>
            <a:ext cx="2583865" cy="2583865"/>
          </a:xfrm>
          <a:custGeom>
            <a:avLst/>
            <a:gdLst/>
            <a:ahLst/>
            <a:cxnLst/>
            <a:rect l="l" t="t" r="r" b="b"/>
            <a:pathLst>
              <a:path w="2583865" h="2583865">
                <a:moveTo>
                  <a:pt x="0" y="0"/>
                </a:moveTo>
                <a:lnTo>
                  <a:pt x="2583865" y="0"/>
                </a:lnTo>
                <a:lnTo>
                  <a:pt x="2583865" y="2583865"/>
                </a:lnTo>
                <a:lnTo>
                  <a:pt x="0" y="258386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93694" y="9877110"/>
            <a:ext cx="2232666" cy="3431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000090"/>
                </a:solidFill>
                <a:latin typeface="Arial"/>
                <a:ea typeface="Arial"/>
                <a:cs typeface="Arial"/>
                <a:sym typeface="Arial"/>
              </a:rPr>
              <a:t>www.gtu.edu.tr</a:t>
            </a:r>
          </a:p>
        </p:txBody>
      </p:sp>
      <p:sp>
        <p:nvSpPr>
          <p:cNvPr id="3" name="AutoShape 3"/>
          <p:cNvSpPr/>
          <p:nvPr/>
        </p:nvSpPr>
        <p:spPr>
          <a:xfrm rot="7147">
            <a:off x="-19070" y="1588669"/>
            <a:ext cx="18326140" cy="0"/>
          </a:xfrm>
          <a:prstGeom prst="line">
            <a:avLst/>
          </a:prstGeom>
          <a:ln w="19050" cap="rnd">
            <a:solidFill>
              <a:srgbClr val="1A2A6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TR"/>
          </a:p>
        </p:txBody>
      </p:sp>
      <p:sp>
        <p:nvSpPr>
          <p:cNvPr id="4" name="AutoShape 4"/>
          <p:cNvSpPr/>
          <p:nvPr/>
        </p:nvSpPr>
        <p:spPr>
          <a:xfrm rot="7147">
            <a:off x="-19070" y="1677564"/>
            <a:ext cx="18326140" cy="0"/>
          </a:xfrm>
          <a:prstGeom prst="line">
            <a:avLst/>
          </a:prstGeom>
          <a:ln w="19050" cap="rnd">
            <a:solidFill>
              <a:srgbClr val="EE801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TR"/>
          </a:p>
        </p:txBody>
      </p:sp>
      <p:sp>
        <p:nvSpPr>
          <p:cNvPr id="5" name="AutoShape 5"/>
          <p:cNvSpPr/>
          <p:nvPr/>
        </p:nvSpPr>
        <p:spPr>
          <a:xfrm rot="7147">
            <a:off x="-19070" y="1779159"/>
            <a:ext cx="18326140" cy="0"/>
          </a:xfrm>
          <a:prstGeom prst="line">
            <a:avLst/>
          </a:prstGeom>
          <a:ln w="19050" cap="rnd">
            <a:solidFill>
              <a:srgbClr val="C1203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TR"/>
          </a:p>
        </p:txBody>
      </p:sp>
      <p:grpSp>
        <p:nvGrpSpPr>
          <p:cNvPr id="6" name="Group 6"/>
          <p:cNvGrpSpPr/>
          <p:nvPr/>
        </p:nvGrpSpPr>
        <p:grpSpPr>
          <a:xfrm>
            <a:off x="393695" y="319705"/>
            <a:ext cx="14632946" cy="1230864"/>
            <a:chOff x="0" y="0"/>
            <a:chExt cx="19510594" cy="164115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9510594" cy="1641153"/>
            </a:xfrm>
            <a:custGeom>
              <a:avLst/>
              <a:gdLst/>
              <a:ahLst/>
              <a:cxnLst/>
              <a:rect l="l" t="t" r="r" b="b"/>
              <a:pathLst>
                <a:path w="19510594" h="1641153">
                  <a:moveTo>
                    <a:pt x="0" y="0"/>
                  </a:moveTo>
                  <a:lnTo>
                    <a:pt x="19510594" y="0"/>
                  </a:lnTo>
                  <a:lnTo>
                    <a:pt x="19510594" y="1641153"/>
                  </a:lnTo>
                  <a:lnTo>
                    <a:pt x="0" y="164115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TR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9510594" cy="167925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128"/>
                </a:lnSpc>
              </a:pPr>
              <a:r>
                <a:rPr lang="en-US" sz="5940" b="1">
                  <a:solidFill>
                    <a:srgbClr val="1A3576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Technologies and Data Sources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4911228" y="9736138"/>
            <a:ext cx="1585812" cy="547688"/>
            <a:chOff x="0" y="0"/>
            <a:chExt cx="2114416" cy="73025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114416" cy="730250"/>
            </a:xfrm>
            <a:custGeom>
              <a:avLst/>
              <a:gdLst/>
              <a:ahLst/>
              <a:cxnLst/>
              <a:rect l="l" t="t" r="r" b="b"/>
              <a:pathLst>
                <a:path w="2114416" h="730250">
                  <a:moveTo>
                    <a:pt x="0" y="0"/>
                  </a:moveTo>
                  <a:lnTo>
                    <a:pt x="2114416" y="0"/>
                  </a:lnTo>
                  <a:lnTo>
                    <a:pt x="2114416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TR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19050"/>
              <a:ext cx="2114416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898989"/>
                  </a:solidFill>
                  <a:latin typeface="Arial"/>
                  <a:ea typeface="Arial"/>
                  <a:cs typeface="Arial"/>
                  <a:sym typeface="Arial"/>
                </a:rPr>
                <a:t>14.10.2025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2514600" y="9736138"/>
            <a:ext cx="11988799" cy="547688"/>
            <a:chOff x="0" y="0"/>
            <a:chExt cx="15985066" cy="73025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5985066" cy="730250"/>
            </a:xfrm>
            <a:custGeom>
              <a:avLst/>
              <a:gdLst/>
              <a:ahLst/>
              <a:cxnLst/>
              <a:rect l="l" t="t" r="r" b="b"/>
              <a:pathLst>
                <a:path w="15985066" h="730250">
                  <a:moveTo>
                    <a:pt x="0" y="0"/>
                  </a:moveTo>
                  <a:lnTo>
                    <a:pt x="15985066" y="0"/>
                  </a:lnTo>
                  <a:lnTo>
                    <a:pt x="15985066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TR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19050"/>
              <a:ext cx="15985066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898989"/>
                  </a:solidFill>
                  <a:latin typeface="Arial"/>
                  <a:ea typeface="Arial"/>
                  <a:cs typeface="Arial"/>
                  <a:sym typeface="Arial"/>
                </a:rPr>
                <a:t>CSE496 – First Presentation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6497042" y="9736138"/>
            <a:ext cx="1388533" cy="547688"/>
            <a:chOff x="0" y="0"/>
            <a:chExt cx="1851378" cy="73025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851378" cy="730250"/>
            </a:xfrm>
            <a:custGeom>
              <a:avLst/>
              <a:gdLst/>
              <a:ahLst/>
              <a:cxnLst/>
              <a:rect l="l" t="t" r="r" b="b"/>
              <a:pathLst>
                <a:path w="1851378" h="730250">
                  <a:moveTo>
                    <a:pt x="0" y="0"/>
                  </a:moveTo>
                  <a:lnTo>
                    <a:pt x="1851378" y="0"/>
                  </a:lnTo>
                  <a:lnTo>
                    <a:pt x="1851378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TR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19050"/>
              <a:ext cx="1851378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898989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</a:p>
          </p:txBody>
        </p:sp>
      </p:grpSp>
      <p:sp>
        <p:nvSpPr>
          <p:cNvPr id="18" name="Freeform 18"/>
          <p:cNvSpPr/>
          <p:nvPr/>
        </p:nvSpPr>
        <p:spPr>
          <a:xfrm>
            <a:off x="15713660" y="-423595"/>
            <a:ext cx="2583865" cy="2583865"/>
          </a:xfrm>
          <a:custGeom>
            <a:avLst/>
            <a:gdLst/>
            <a:ahLst/>
            <a:cxnLst/>
            <a:rect l="l" t="t" r="r" b="b"/>
            <a:pathLst>
              <a:path w="2583865" h="2583865">
                <a:moveTo>
                  <a:pt x="0" y="0"/>
                </a:moveTo>
                <a:lnTo>
                  <a:pt x="2583865" y="0"/>
                </a:lnTo>
                <a:lnTo>
                  <a:pt x="2583865" y="2583865"/>
                </a:lnTo>
                <a:lnTo>
                  <a:pt x="0" y="258386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TR"/>
          </a:p>
        </p:txBody>
      </p:sp>
      <p:sp>
        <p:nvSpPr>
          <p:cNvPr id="19" name="TextBox 19"/>
          <p:cNvSpPr txBox="1"/>
          <p:nvPr/>
        </p:nvSpPr>
        <p:spPr>
          <a:xfrm>
            <a:off x="1028700" y="3213110"/>
            <a:ext cx="7864480" cy="45847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Technologies:</a:t>
            </a:r>
            <a:r>
              <a:rPr lang="en-US" sz="33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300" i="1" dirty="0">
                <a:solidFill>
                  <a:srgbClr val="000000"/>
                </a:solidFill>
                <a:latin typeface="Arial Italics"/>
                <a:ea typeface="Arial Italics"/>
                <a:cs typeface="Arial Italics"/>
                <a:sym typeface="Arial Italics"/>
              </a:rPr>
              <a:t>only Python</a:t>
            </a:r>
          </a:p>
          <a:p>
            <a:pPr marL="596265" lvl="1" indent="-297815">
              <a:lnSpc>
                <a:spcPts val="3960"/>
              </a:lnSpc>
              <a:buFont typeface="Arial"/>
              <a:buChar char="•"/>
            </a:pPr>
            <a:r>
              <a:rPr lang="en-US" sz="33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H5py and Pandas</a:t>
            </a:r>
          </a:p>
          <a:p>
            <a:pPr marL="596265" lvl="1" indent="-297815">
              <a:lnSpc>
                <a:spcPts val="3960"/>
              </a:lnSpc>
              <a:buFont typeface="Arial"/>
              <a:buChar char="•"/>
            </a:pPr>
            <a:r>
              <a:rPr lang="en-US" sz="3300" dirty="0">
                <a:solidFill>
                  <a:srgbClr val="000000"/>
                </a:solidFill>
                <a:latin typeface="Arial"/>
                <a:cs typeface="Arial"/>
              </a:rPr>
              <a:t>NumPy</a:t>
            </a:r>
          </a:p>
          <a:p>
            <a:pPr marL="596265" lvl="1" indent="-297815" algn="l">
              <a:lnSpc>
                <a:spcPts val="3960"/>
              </a:lnSpc>
              <a:buFont typeface="Arial"/>
              <a:buChar char="•"/>
            </a:pPr>
            <a:r>
              <a:rPr lang="en-US" sz="3300" dirty="0">
                <a:solidFill>
                  <a:srgbClr val="000000"/>
                </a:solidFill>
                <a:latin typeface="Arial"/>
                <a:cs typeface="Arial"/>
              </a:rPr>
              <a:t>Scikit-learn</a:t>
            </a:r>
            <a:endParaRPr lang="en-US" dirty="0"/>
          </a:p>
          <a:p>
            <a:pPr marL="596265" lvl="1" indent="-297815">
              <a:lnSpc>
                <a:spcPts val="3960"/>
              </a:lnSpc>
              <a:buFont typeface="Arial"/>
              <a:buChar char="•"/>
            </a:pPr>
            <a:r>
              <a:rPr lang="en-US" sz="33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XGBoost</a:t>
            </a:r>
            <a:endParaRPr lang="en-US" sz="3300" dirty="0" err="1">
              <a:solidFill>
                <a:srgbClr val="000000"/>
              </a:solidFill>
              <a:latin typeface="Arial"/>
              <a:ea typeface="Arial"/>
              <a:cs typeface="Arial"/>
              <a:hlinkClick r:id="" action="ppaction://noaction"/>
            </a:endParaRPr>
          </a:p>
          <a:p>
            <a:pPr marL="596265" lvl="1" indent="-297815" algn="l">
              <a:lnSpc>
                <a:spcPts val="3960"/>
              </a:lnSpc>
              <a:buFont typeface="Arial"/>
              <a:buChar char="•"/>
            </a:pPr>
            <a:r>
              <a:rPr lang="en-US" sz="33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Matplotlib</a:t>
            </a:r>
            <a:endParaRPr lang="en-US" sz="3300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596265" lvl="1" indent="-297815">
              <a:lnSpc>
                <a:spcPts val="3960"/>
              </a:lnSpc>
              <a:buFont typeface="Arial"/>
              <a:buChar char="•"/>
            </a:pPr>
            <a:r>
              <a:rPr lang="en-US" sz="33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Conformal Prediction for uncertainty estimation</a:t>
            </a:r>
            <a:endParaRPr lang="en-US" sz="3300" dirty="0">
              <a:solidFill>
                <a:srgbClr val="000000"/>
              </a:solidFill>
              <a:latin typeface="Arial"/>
              <a:ea typeface="Arial"/>
              <a:cs typeface="Arial"/>
              <a:hlinkClick r:id="rId3"/>
            </a:endParaRPr>
          </a:p>
          <a:p>
            <a:pPr algn="l">
              <a:lnSpc>
                <a:spcPts val="3960"/>
              </a:lnSpc>
            </a:pPr>
            <a:endParaRPr lang="en-US" sz="3300">
              <a:solidFill>
                <a:srgbClr val="000000"/>
              </a:solidFill>
              <a:latin typeface="Arial"/>
              <a:ea typeface="Arial"/>
              <a:cs typeface="Arial"/>
              <a:sym typeface="Arial"/>
              <a:hlinkClick r:id="rId3" tooltip="https://dictionary.cambridge.org/tr/s%C3%B6zl%C3%BCk/ingilizce-t%C3%BCrk%C3%A7e/this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9326828" y="3213110"/>
            <a:ext cx="7864480" cy="56107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960"/>
              </a:lnSpc>
            </a:pPr>
            <a:r>
              <a:rPr lang="en-US" sz="3300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Dataset:</a:t>
            </a:r>
            <a:r>
              <a:rPr lang="en-US" sz="3300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"/>
              </a:rPr>
              <a:t> </a:t>
            </a:r>
            <a:r>
              <a:rPr lang="en-US" sz="33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Stanford-Toyota lithium-ion battery aging dataset (MATR)</a:t>
            </a:r>
            <a:endParaRPr lang="en-US" sz="33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  <a:hlinkClick r:id="rId3" tooltip="https://dictionary.cambridge.org/tr/s%C3%B6zl%C3%BCk/ingilizce-t%C3%BCrk%C3%A7e/this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596265" lvl="1" indent="-297815">
              <a:lnSpc>
                <a:spcPts val="3960"/>
              </a:lnSpc>
              <a:buFont typeface="Arial"/>
              <a:buChar char="•"/>
            </a:pPr>
            <a:r>
              <a:rPr lang="en-US" sz="33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93 lithium-ion pouch cells</a:t>
            </a:r>
            <a:endParaRPr lang="en-US" sz="3300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596265" lvl="1" indent="-297815">
              <a:lnSpc>
                <a:spcPts val="3960"/>
              </a:lnSpc>
              <a:buFont typeface="Arial"/>
              <a:buChar char="•"/>
            </a:pPr>
            <a:r>
              <a:rPr lang="en-US" sz="33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46 long-lived</a:t>
            </a:r>
            <a:endParaRPr lang="en-US" sz="3300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596265" lvl="1" indent="-297815">
              <a:lnSpc>
                <a:spcPts val="3960"/>
              </a:lnSpc>
              <a:buFont typeface="Arial"/>
              <a:buChar char="•"/>
            </a:pPr>
            <a:r>
              <a:rPr lang="en-US" sz="33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47 short-lived</a:t>
            </a:r>
            <a:endParaRPr lang="en-US" sz="3300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596265" lvl="1" indent="-297815">
              <a:lnSpc>
                <a:spcPts val="3960"/>
              </a:lnSpc>
              <a:buFont typeface="Arial"/>
              <a:buChar char="•"/>
            </a:pPr>
            <a:r>
              <a:rPr lang="en-US" sz="33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Two experimental batches</a:t>
            </a:r>
            <a:endParaRPr lang="en-US" sz="3300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596265" lvl="1" indent="-297815">
              <a:lnSpc>
                <a:spcPts val="3960"/>
              </a:lnSpc>
              <a:buFont typeface="Arial"/>
              <a:buChar char="•"/>
            </a:pPr>
            <a:r>
              <a:rPr lang="en-US" sz="33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Each cell cycles until failure</a:t>
            </a:r>
            <a:endParaRPr lang="en-US" sz="3300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596265" lvl="1" indent="-297815">
              <a:lnSpc>
                <a:spcPts val="3960"/>
              </a:lnSpc>
              <a:buFont typeface="Arial"/>
              <a:buChar char="•"/>
            </a:pPr>
            <a:r>
              <a:rPr lang="en-US" sz="33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Rich measurements:</a:t>
            </a:r>
            <a:endParaRPr lang="en-US" sz="3300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55650" lvl="1" indent="-457200">
              <a:lnSpc>
                <a:spcPts val="3960"/>
              </a:lnSpc>
              <a:buFont typeface="Arial"/>
              <a:buChar char="•"/>
            </a:pPr>
            <a:r>
              <a:rPr lang="en-US" sz="33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Voltage, current, capacity, temperature</a:t>
            </a:r>
            <a:endParaRPr lang="en-US" sz="3300" dirty="0">
              <a:solidFill>
                <a:srgbClr val="000000"/>
              </a:solidFill>
              <a:latin typeface="Arial"/>
              <a:ea typeface="Arial"/>
              <a:cs typeface="Arial"/>
              <a:hlinkClick r:id="rId3"/>
            </a:endParaRPr>
          </a:p>
          <a:p>
            <a:pPr algn="l">
              <a:lnSpc>
                <a:spcPts val="3960"/>
              </a:lnSpc>
            </a:pPr>
            <a:endParaRPr lang="en-US" sz="3300">
              <a:solidFill>
                <a:srgbClr val="000000"/>
              </a:solidFill>
              <a:latin typeface="Arial"/>
              <a:ea typeface="Arial"/>
              <a:cs typeface="Arial"/>
              <a:sym typeface="Arial"/>
              <a:hlinkClick r:id="rId3" tooltip="https://dictionary.cambridge.org/tr/s%C3%B6zl%C3%BCk/ingilizce-t%C3%BCrk%C3%A7e/thi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93694" y="9877110"/>
            <a:ext cx="2232666" cy="3431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000090"/>
                </a:solidFill>
                <a:latin typeface="Arial"/>
                <a:ea typeface="Arial"/>
                <a:cs typeface="Arial"/>
                <a:sym typeface="Arial"/>
              </a:rPr>
              <a:t>www.gtu.edu.tr</a:t>
            </a:r>
          </a:p>
        </p:txBody>
      </p:sp>
      <p:sp>
        <p:nvSpPr>
          <p:cNvPr id="3" name="AutoShape 3"/>
          <p:cNvSpPr/>
          <p:nvPr/>
        </p:nvSpPr>
        <p:spPr>
          <a:xfrm rot="7147">
            <a:off x="-19070" y="1588669"/>
            <a:ext cx="18326140" cy="0"/>
          </a:xfrm>
          <a:prstGeom prst="line">
            <a:avLst/>
          </a:prstGeom>
          <a:ln w="19050" cap="rnd">
            <a:solidFill>
              <a:srgbClr val="1A2A6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TR"/>
          </a:p>
        </p:txBody>
      </p:sp>
      <p:sp>
        <p:nvSpPr>
          <p:cNvPr id="4" name="AutoShape 4"/>
          <p:cNvSpPr/>
          <p:nvPr/>
        </p:nvSpPr>
        <p:spPr>
          <a:xfrm rot="7147">
            <a:off x="-19070" y="1677564"/>
            <a:ext cx="18326140" cy="0"/>
          </a:xfrm>
          <a:prstGeom prst="line">
            <a:avLst/>
          </a:prstGeom>
          <a:ln w="19050" cap="rnd">
            <a:solidFill>
              <a:srgbClr val="EE801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TR"/>
          </a:p>
        </p:txBody>
      </p:sp>
      <p:sp>
        <p:nvSpPr>
          <p:cNvPr id="5" name="AutoShape 5"/>
          <p:cNvSpPr/>
          <p:nvPr/>
        </p:nvSpPr>
        <p:spPr>
          <a:xfrm rot="7147">
            <a:off x="-19070" y="1779159"/>
            <a:ext cx="18326140" cy="0"/>
          </a:xfrm>
          <a:prstGeom prst="line">
            <a:avLst/>
          </a:prstGeom>
          <a:ln w="19050" cap="rnd">
            <a:solidFill>
              <a:srgbClr val="C1203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TR"/>
          </a:p>
        </p:txBody>
      </p:sp>
      <p:grpSp>
        <p:nvGrpSpPr>
          <p:cNvPr id="6" name="Group 6"/>
          <p:cNvGrpSpPr/>
          <p:nvPr/>
        </p:nvGrpSpPr>
        <p:grpSpPr>
          <a:xfrm>
            <a:off x="429255" y="419101"/>
            <a:ext cx="14632946" cy="1230864"/>
            <a:chOff x="0" y="0"/>
            <a:chExt cx="19510594" cy="164115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9510594" cy="1641153"/>
            </a:xfrm>
            <a:custGeom>
              <a:avLst/>
              <a:gdLst/>
              <a:ahLst/>
              <a:cxnLst/>
              <a:rect l="l" t="t" r="r" b="b"/>
              <a:pathLst>
                <a:path w="19510594" h="1641153">
                  <a:moveTo>
                    <a:pt x="0" y="0"/>
                  </a:moveTo>
                  <a:lnTo>
                    <a:pt x="19510594" y="0"/>
                  </a:lnTo>
                  <a:lnTo>
                    <a:pt x="19510594" y="1641153"/>
                  </a:lnTo>
                  <a:lnTo>
                    <a:pt x="0" y="164115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TR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9510594" cy="167925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128"/>
                </a:lnSpc>
              </a:pPr>
              <a:r>
                <a:rPr lang="en-US" sz="5940" b="1">
                  <a:solidFill>
                    <a:srgbClr val="1A3576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System Architecture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4911228" y="9736138"/>
            <a:ext cx="1585812" cy="547688"/>
            <a:chOff x="0" y="0"/>
            <a:chExt cx="2114416" cy="73025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114416" cy="730250"/>
            </a:xfrm>
            <a:custGeom>
              <a:avLst/>
              <a:gdLst/>
              <a:ahLst/>
              <a:cxnLst/>
              <a:rect l="l" t="t" r="r" b="b"/>
              <a:pathLst>
                <a:path w="2114416" h="730250">
                  <a:moveTo>
                    <a:pt x="0" y="0"/>
                  </a:moveTo>
                  <a:lnTo>
                    <a:pt x="2114416" y="0"/>
                  </a:lnTo>
                  <a:lnTo>
                    <a:pt x="2114416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TR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19050"/>
              <a:ext cx="2114416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898989"/>
                  </a:solidFill>
                  <a:latin typeface="Arial"/>
                  <a:ea typeface="Arial"/>
                  <a:cs typeface="Arial"/>
                  <a:sym typeface="Arial"/>
                </a:rPr>
                <a:t>14.10.2025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2514600" y="9736138"/>
            <a:ext cx="11988799" cy="547688"/>
            <a:chOff x="0" y="0"/>
            <a:chExt cx="15985066" cy="73025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5985066" cy="730250"/>
            </a:xfrm>
            <a:custGeom>
              <a:avLst/>
              <a:gdLst/>
              <a:ahLst/>
              <a:cxnLst/>
              <a:rect l="l" t="t" r="r" b="b"/>
              <a:pathLst>
                <a:path w="15985066" h="730250">
                  <a:moveTo>
                    <a:pt x="0" y="0"/>
                  </a:moveTo>
                  <a:lnTo>
                    <a:pt x="15985066" y="0"/>
                  </a:lnTo>
                  <a:lnTo>
                    <a:pt x="15985066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TR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19050"/>
              <a:ext cx="15985066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898989"/>
                  </a:solidFill>
                  <a:latin typeface="Arial"/>
                  <a:ea typeface="Arial"/>
                  <a:cs typeface="Arial"/>
                  <a:sym typeface="Arial"/>
                </a:rPr>
                <a:t>CSE496 – First Presentation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6497042" y="9736138"/>
            <a:ext cx="1388533" cy="547688"/>
            <a:chOff x="0" y="0"/>
            <a:chExt cx="1851378" cy="73025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851378" cy="730250"/>
            </a:xfrm>
            <a:custGeom>
              <a:avLst/>
              <a:gdLst/>
              <a:ahLst/>
              <a:cxnLst/>
              <a:rect l="l" t="t" r="r" b="b"/>
              <a:pathLst>
                <a:path w="1851378" h="730250">
                  <a:moveTo>
                    <a:pt x="0" y="0"/>
                  </a:moveTo>
                  <a:lnTo>
                    <a:pt x="1851378" y="0"/>
                  </a:lnTo>
                  <a:lnTo>
                    <a:pt x="1851378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TR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19050"/>
              <a:ext cx="1851378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898989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</a:p>
          </p:txBody>
        </p:sp>
      </p:grpSp>
      <p:sp>
        <p:nvSpPr>
          <p:cNvPr id="18" name="Freeform 18"/>
          <p:cNvSpPr/>
          <p:nvPr/>
        </p:nvSpPr>
        <p:spPr>
          <a:xfrm>
            <a:off x="15713660" y="-423595"/>
            <a:ext cx="2583865" cy="2583865"/>
          </a:xfrm>
          <a:custGeom>
            <a:avLst/>
            <a:gdLst/>
            <a:ahLst/>
            <a:cxnLst/>
            <a:rect l="l" t="t" r="r" b="b"/>
            <a:pathLst>
              <a:path w="2583865" h="2583865">
                <a:moveTo>
                  <a:pt x="0" y="0"/>
                </a:moveTo>
                <a:lnTo>
                  <a:pt x="2583865" y="0"/>
                </a:lnTo>
                <a:lnTo>
                  <a:pt x="2583865" y="2583865"/>
                </a:lnTo>
                <a:lnTo>
                  <a:pt x="0" y="258386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TR"/>
          </a:p>
        </p:txBody>
      </p:sp>
      <p:sp>
        <p:nvSpPr>
          <p:cNvPr id="19" name="Freeform 19"/>
          <p:cNvSpPr/>
          <p:nvPr/>
        </p:nvSpPr>
        <p:spPr>
          <a:xfrm>
            <a:off x="551591" y="3256197"/>
            <a:ext cx="17184817" cy="5728272"/>
          </a:xfrm>
          <a:custGeom>
            <a:avLst/>
            <a:gdLst/>
            <a:ahLst/>
            <a:cxnLst/>
            <a:rect l="l" t="t" r="r" b="b"/>
            <a:pathLst>
              <a:path w="17184817" h="5728272">
                <a:moveTo>
                  <a:pt x="0" y="0"/>
                </a:moveTo>
                <a:lnTo>
                  <a:pt x="17184818" y="0"/>
                </a:lnTo>
                <a:lnTo>
                  <a:pt x="17184818" y="5728272"/>
                </a:lnTo>
                <a:lnTo>
                  <a:pt x="0" y="57282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93694" y="9877110"/>
            <a:ext cx="2232666" cy="3431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000090"/>
                </a:solidFill>
                <a:latin typeface="Arial"/>
                <a:ea typeface="Arial"/>
                <a:cs typeface="Arial"/>
                <a:sym typeface="Arial"/>
              </a:rPr>
              <a:t>www.gtu.edu.tr</a:t>
            </a:r>
          </a:p>
        </p:txBody>
      </p:sp>
      <p:sp>
        <p:nvSpPr>
          <p:cNvPr id="3" name="AutoShape 3"/>
          <p:cNvSpPr/>
          <p:nvPr/>
        </p:nvSpPr>
        <p:spPr>
          <a:xfrm>
            <a:off x="20" y="1054020"/>
            <a:ext cx="18326100" cy="38100"/>
          </a:xfrm>
          <a:prstGeom prst="line">
            <a:avLst/>
          </a:prstGeom>
          <a:ln w="19050" cap="rnd">
            <a:solidFill>
              <a:srgbClr val="1A2A6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TR"/>
          </a:p>
        </p:txBody>
      </p:sp>
      <p:sp>
        <p:nvSpPr>
          <p:cNvPr id="4" name="AutoShape 4"/>
          <p:cNvSpPr/>
          <p:nvPr/>
        </p:nvSpPr>
        <p:spPr>
          <a:xfrm>
            <a:off x="20" y="1142914"/>
            <a:ext cx="18326100" cy="38100"/>
          </a:xfrm>
          <a:prstGeom prst="line">
            <a:avLst/>
          </a:prstGeom>
          <a:ln w="19050" cap="rnd">
            <a:solidFill>
              <a:srgbClr val="EE801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TR"/>
          </a:p>
        </p:txBody>
      </p:sp>
      <p:sp>
        <p:nvSpPr>
          <p:cNvPr id="5" name="AutoShape 5"/>
          <p:cNvSpPr/>
          <p:nvPr/>
        </p:nvSpPr>
        <p:spPr>
          <a:xfrm>
            <a:off x="20" y="1244509"/>
            <a:ext cx="18326100" cy="38100"/>
          </a:xfrm>
          <a:prstGeom prst="line">
            <a:avLst/>
          </a:prstGeom>
          <a:ln w="19050" cap="rnd">
            <a:solidFill>
              <a:srgbClr val="C1203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TR"/>
          </a:p>
        </p:txBody>
      </p:sp>
      <p:grpSp>
        <p:nvGrpSpPr>
          <p:cNvPr id="6" name="Group 6"/>
          <p:cNvGrpSpPr/>
          <p:nvPr/>
        </p:nvGrpSpPr>
        <p:grpSpPr>
          <a:xfrm>
            <a:off x="393695" y="65415"/>
            <a:ext cx="14632946" cy="1140995"/>
            <a:chOff x="0" y="0"/>
            <a:chExt cx="19510594" cy="152132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9510594" cy="1521326"/>
            </a:xfrm>
            <a:custGeom>
              <a:avLst/>
              <a:gdLst/>
              <a:ahLst/>
              <a:cxnLst/>
              <a:rect l="l" t="t" r="r" b="b"/>
              <a:pathLst>
                <a:path w="19510594" h="1521326">
                  <a:moveTo>
                    <a:pt x="0" y="0"/>
                  </a:moveTo>
                  <a:lnTo>
                    <a:pt x="19510594" y="0"/>
                  </a:lnTo>
                  <a:lnTo>
                    <a:pt x="19510594" y="1521326"/>
                  </a:lnTo>
                  <a:lnTo>
                    <a:pt x="0" y="152132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TR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28575"/>
              <a:ext cx="19510594" cy="154990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808"/>
                </a:lnSpc>
              </a:pPr>
              <a:r>
                <a:rPr lang="en-US" sz="4840" b="1">
                  <a:solidFill>
                    <a:srgbClr val="1A3576"/>
                  </a:solidFill>
                  <a:latin typeface="Arial Bold"/>
                  <a:ea typeface="Arial Bold"/>
                  <a:cs typeface="Arial Bold"/>
                  <a:sym typeface="Arial Bold"/>
                </a:rPr>
                <a:t>Engineered Features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4911228" y="9736138"/>
            <a:ext cx="1585812" cy="547688"/>
            <a:chOff x="0" y="0"/>
            <a:chExt cx="2114416" cy="73025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114416" cy="730250"/>
            </a:xfrm>
            <a:custGeom>
              <a:avLst/>
              <a:gdLst/>
              <a:ahLst/>
              <a:cxnLst/>
              <a:rect l="l" t="t" r="r" b="b"/>
              <a:pathLst>
                <a:path w="2114416" h="730250">
                  <a:moveTo>
                    <a:pt x="0" y="0"/>
                  </a:moveTo>
                  <a:lnTo>
                    <a:pt x="2114416" y="0"/>
                  </a:lnTo>
                  <a:lnTo>
                    <a:pt x="2114416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TR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19050"/>
              <a:ext cx="2114416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898989"/>
                  </a:solidFill>
                  <a:latin typeface="Arial"/>
                  <a:ea typeface="Arial"/>
                  <a:cs typeface="Arial"/>
                  <a:sym typeface="Arial"/>
                </a:rPr>
                <a:t>14.10.2025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2514600" y="9736138"/>
            <a:ext cx="11988799" cy="547688"/>
            <a:chOff x="0" y="0"/>
            <a:chExt cx="15985066" cy="73025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5985066" cy="730250"/>
            </a:xfrm>
            <a:custGeom>
              <a:avLst/>
              <a:gdLst/>
              <a:ahLst/>
              <a:cxnLst/>
              <a:rect l="l" t="t" r="r" b="b"/>
              <a:pathLst>
                <a:path w="15985066" h="730250">
                  <a:moveTo>
                    <a:pt x="0" y="0"/>
                  </a:moveTo>
                  <a:lnTo>
                    <a:pt x="15985066" y="0"/>
                  </a:lnTo>
                  <a:lnTo>
                    <a:pt x="15985066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TR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19050"/>
              <a:ext cx="15985066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898989"/>
                  </a:solidFill>
                  <a:latin typeface="Arial"/>
                  <a:ea typeface="Arial"/>
                  <a:cs typeface="Arial"/>
                  <a:sym typeface="Arial"/>
                </a:rPr>
                <a:t>CSE496 – First Presentation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6497042" y="9736138"/>
            <a:ext cx="1388533" cy="547688"/>
            <a:chOff x="0" y="0"/>
            <a:chExt cx="1851378" cy="73025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851378" cy="730250"/>
            </a:xfrm>
            <a:custGeom>
              <a:avLst/>
              <a:gdLst/>
              <a:ahLst/>
              <a:cxnLst/>
              <a:rect l="l" t="t" r="r" b="b"/>
              <a:pathLst>
                <a:path w="1851378" h="730250">
                  <a:moveTo>
                    <a:pt x="0" y="0"/>
                  </a:moveTo>
                  <a:lnTo>
                    <a:pt x="1851378" y="0"/>
                  </a:lnTo>
                  <a:lnTo>
                    <a:pt x="1851378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TR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19050"/>
              <a:ext cx="1851378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898989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</a:p>
          </p:txBody>
        </p:sp>
      </p:grpSp>
      <p:sp>
        <p:nvSpPr>
          <p:cNvPr id="18" name="Freeform 18"/>
          <p:cNvSpPr/>
          <p:nvPr/>
        </p:nvSpPr>
        <p:spPr>
          <a:xfrm>
            <a:off x="16692156" y="-246485"/>
            <a:ext cx="1633964" cy="1633964"/>
          </a:xfrm>
          <a:custGeom>
            <a:avLst/>
            <a:gdLst/>
            <a:ahLst/>
            <a:cxnLst/>
            <a:rect l="l" t="t" r="r" b="b"/>
            <a:pathLst>
              <a:path w="1633964" h="1633964">
                <a:moveTo>
                  <a:pt x="0" y="0"/>
                </a:moveTo>
                <a:lnTo>
                  <a:pt x="1633964" y="0"/>
                </a:lnTo>
                <a:lnTo>
                  <a:pt x="1633964" y="1633964"/>
                </a:lnTo>
                <a:lnTo>
                  <a:pt x="0" y="163396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TR"/>
          </a:p>
        </p:txBody>
      </p:sp>
      <p:sp>
        <p:nvSpPr>
          <p:cNvPr id="19" name="Freeform 19"/>
          <p:cNvSpPr/>
          <p:nvPr/>
        </p:nvSpPr>
        <p:spPr>
          <a:xfrm>
            <a:off x="1510028" y="1638089"/>
            <a:ext cx="9534793" cy="7945661"/>
          </a:xfrm>
          <a:custGeom>
            <a:avLst/>
            <a:gdLst/>
            <a:ahLst/>
            <a:cxnLst/>
            <a:rect l="l" t="t" r="r" b="b"/>
            <a:pathLst>
              <a:path w="9534793" h="7945661">
                <a:moveTo>
                  <a:pt x="0" y="0"/>
                </a:moveTo>
                <a:lnTo>
                  <a:pt x="9534793" y="0"/>
                </a:lnTo>
                <a:lnTo>
                  <a:pt x="9534793" y="7945661"/>
                </a:lnTo>
                <a:lnTo>
                  <a:pt x="0" y="794566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TR"/>
          </a:p>
        </p:txBody>
      </p:sp>
      <p:sp>
        <p:nvSpPr>
          <p:cNvPr id="20" name="TextBox 20"/>
          <p:cNvSpPr txBox="1"/>
          <p:nvPr/>
        </p:nvSpPr>
        <p:spPr>
          <a:xfrm>
            <a:off x="11923269" y="1628564"/>
            <a:ext cx="5336031" cy="8429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60"/>
              </a:lnSpc>
            </a:pPr>
            <a:r>
              <a:rPr lang="en-US" sz="3300" b="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Internal resistance:</a:t>
            </a:r>
          </a:p>
          <a:p>
            <a:pPr algn="ctr">
              <a:lnSpc>
                <a:spcPts val="3960"/>
              </a:lnSpc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Mean, slope, change</a:t>
            </a:r>
          </a:p>
          <a:p>
            <a:pPr algn="ctr">
              <a:lnSpc>
                <a:spcPts val="3960"/>
              </a:lnSpc>
            </a:pPr>
            <a:endParaRPr lang="en-US" sz="33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algn="ctr">
              <a:lnSpc>
                <a:spcPts val="3960"/>
              </a:lnSpc>
            </a:pPr>
            <a:r>
              <a:rPr lang="en-US" sz="3300" b="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Discharge capacity:</a:t>
            </a:r>
          </a:p>
          <a:p>
            <a:pPr algn="ctr">
              <a:lnSpc>
                <a:spcPts val="3960"/>
              </a:lnSpc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Mean, standard deviation</a:t>
            </a:r>
          </a:p>
          <a:p>
            <a:pPr algn="ctr">
              <a:lnSpc>
                <a:spcPts val="3960"/>
              </a:lnSpc>
            </a:pPr>
            <a:endParaRPr lang="en-US" sz="33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algn="ctr">
              <a:lnSpc>
                <a:spcPts val="3960"/>
              </a:lnSpc>
            </a:pPr>
            <a:r>
              <a:rPr lang="en-US" sz="3300" b="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Temperature:</a:t>
            </a:r>
          </a:p>
          <a:p>
            <a:pPr algn="ctr">
              <a:lnSpc>
                <a:spcPts val="3960"/>
              </a:lnSpc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Average temperature</a:t>
            </a:r>
          </a:p>
          <a:p>
            <a:pPr algn="ctr">
              <a:lnSpc>
                <a:spcPts val="3960"/>
              </a:lnSpc>
            </a:pPr>
            <a:r>
              <a:rPr lang="en-US" sz="3300" b="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Electrochemical behavior:</a:t>
            </a:r>
          </a:p>
          <a:p>
            <a:pPr algn="ctr">
              <a:lnSpc>
                <a:spcPts val="3960"/>
              </a:lnSpc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dQ/dV slope proxy</a:t>
            </a:r>
          </a:p>
          <a:p>
            <a:pPr algn="ctr">
              <a:lnSpc>
                <a:spcPts val="3960"/>
              </a:lnSpc>
            </a:pPr>
            <a:endParaRPr lang="en-US" sz="33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algn="ctr">
              <a:lnSpc>
                <a:spcPts val="3960"/>
              </a:lnSpc>
            </a:pPr>
            <a:r>
              <a:rPr lang="en-US" sz="3300" b="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Final feature set:</a:t>
            </a:r>
          </a:p>
          <a:p>
            <a:pPr algn="ctr">
              <a:lnSpc>
                <a:spcPts val="3960"/>
              </a:lnSpc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8 physically motivated features</a:t>
            </a:r>
          </a:p>
          <a:p>
            <a:pPr algn="ctr">
              <a:lnSpc>
                <a:spcPts val="3960"/>
              </a:lnSpc>
            </a:pPr>
            <a:endParaRPr lang="en-US" sz="33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algn="ctr">
              <a:lnSpc>
                <a:spcPts val="3960"/>
              </a:lnSpc>
            </a:pPr>
            <a:endParaRPr lang="en-US" sz="33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algn="l">
              <a:lnSpc>
                <a:spcPts val="3960"/>
              </a:lnSpc>
            </a:pPr>
            <a:endParaRPr lang="en-US" sz="33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93694" y="9877110"/>
            <a:ext cx="2232666" cy="3431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000090"/>
                </a:solidFill>
                <a:latin typeface="Arial"/>
                <a:ea typeface="Arial"/>
                <a:cs typeface="Arial"/>
                <a:sym typeface="Arial"/>
              </a:rPr>
              <a:t>www.gtu.edu.tr</a:t>
            </a:r>
          </a:p>
        </p:txBody>
      </p:sp>
      <p:sp>
        <p:nvSpPr>
          <p:cNvPr id="3" name="AutoShape 3"/>
          <p:cNvSpPr/>
          <p:nvPr/>
        </p:nvSpPr>
        <p:spPr>
          <a:xfrm>
            <a:off x="20" y="1054020"/>
            <a:ext cx="18326100" cy="38100"/>
          </a:xfrm>
          <a:prstGeom prst="line">
            <a:avLst/>
          </a:prstGeom>
          <a:ln w="19050" cap="rnd">
            <a:solidFill>
              <a:srgbClr val="1A2A6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TR"/>
          </a:p>
        </p:txBody>
      </p:sp>
      <p:sp>
        <p:nvSpPr>
          <p:cNvPr id="4" name="AutoShape 4"/>
          <p:cNvSpPr/>
          <p:nvPr/>
        </p:nvSpPr>
        <p:spPr>
          <a:xfrm>
            <a:off x="20" y="1142914"/>
            <a:ext cx="18326100" cy="38100"/>
          </a:xfrm>
          <a:prstGeom prst="line">
            <a:avLst/>
          </a:prstGeom>
          <a:ln w="19050" cap="rnd">
            <a:solidFill>
              <a:srgbClr val="EE801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TR"/>
          </a:p>
        </p:txBody>
      </p:sp>
      <p:sp>
        <p:nvSpPr>
          <p:cNvPr id="5" name="AutoShape 5"/>
          <p:cNvSpPr/>
          <p:nvPr/>
        </p:nvSpPr>
        <p:spPr>
          <a:xfrm>
            <a:off x="20" y="1244509"/>
            <a:ext cx="18326100" cy="38100"/>
          </a:xfrm>
          <a:prstGeom prst="line">
            <a:avLst/>
          </a:prstGeom>
          <a:ln w="19050" cap="rnd">
            <a:solidFill>
              <a:srgbClr val="C1203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TR"/>
          </a:p>
        </p:txBody>
      </p:sp>
      <p:grpSp>
        <p:nvGrpSpPr>
          <p:cNvPr id="6" name="Group 6"/>
          <p:cNvGrpSpPr/>
          <p:nvPr/>
        </p:nvGrpSpPr>
        <p:grpSpPr>
          <a:xfrm>
            <a:off x="278283" y="0"/>
            <a:ext cx="14632946" cy="1140995"/>
            <a:chOff x="0" y="0"/>
            <a:chExt cx="19510594" cy="152132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9510594" cy="1521326"/>
            </a:xfrm>
            <a:custGeom>
              <a:avLst/>
              <a:gdLst/>
              <a:ahLst/>
              <a:cxnLst/>
              <a:rect l="l" t="t" r="r" b="b"/>
              <a:pathLst>
                <a:path w="19510594" h="1521326">
                  <a:moveTo>
                    <a:pt x="0" y="0"/>
                  </a:moveTo>
                  <a:lnTo>
                    <a:pt x="19510594" y="0"/>
                  </a:lnTo>
                  <a:lnTo>
                    <a:pt x="19510594" y="1521326"/>
                  </a:lnTo>
                  <a:lnTo>
                    <a:pt x="0" y="152132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TR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28575"/>
              <a:ext cx="19510594" cy="154990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808"/>
                </a:lnSpc>
              </a:pPr>
              <a:r>
                <a:rPr lang="en-US" sz="4840" b="1">
                  <a:solidFill>
                    <a:srgbClr val="1A3576"/>
                  </a:solidFill>
                  <a:latin typeface="Arial Bold"/>
                  <a:ea typeface="Arial Bold"/>
                  <a:cs typeface="Arial Bold"/>
                  <a:sym typeface="Arial Bold"/>
                </a:rPr>
                <a:t>Exploratory Data Analysis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4911228" y="9736138"/>
            <a:ext cx="1585812" cy="547688"/>
            <a:chOff x="0" y="0"/>
            <a:chExt cx="2114416" cy="73025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114416" cy="730250"/>
            </a:xfrm>
            <a:custGeom>
              <a:avLst/>
              <a:gdLst/>
              <a:ahLst/>
              <a:cxnLst/>
              <a:rect l="l" t="t" r="r" b="b"/>
              <a:pathLst>
                <a:path w="2114416" h="730250">
                  <a:moveTo>
                    <a:pt x="0" y="0"/>
                  </a:moveTo>
                  <a:lnTo>
                    <a:pt x="2114416" y="0"/>
                  </a:lnTo>
                  <a:lnTo>
                    <a:pt x="2114416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TR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19050"/>
              <a:ext cx="2114416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898989"/>
                  </a:solidFill>
                  <a:latin typeface="Arial"/>
                  <a:ea typeface="Arial"/>
                  <a:cs typeface="Arial"/>
                  <a:sym typeface="Arial"/>
                </a:rPr>
                <a:t>14.10.2025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2514600" y="9736138"/>
            <a:ext cx="11988799" cy="547688"/>
            <a:chOff x="0" y="0"/>
            <a:chExt cx="15985066" cy="73025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5985066" cy="730250"/>
            </a:xfrm>
            <a:custGeom>
              <a:avLst/>
              <a:gdLst/>
              <a:ahLst/>
              <a:cxnLst/>
              <a:rect l="l" t="t" r="r" b="b"/>
              <a:pathLst>
                <a:path w="15985066" h="730250">
                  <a:moveTo>
                    <a:pt x="0" y="0"/>
                  </a:moveTo>
                  <a:lnTo>
                    <a:pt x="15985066" y="0"/>
                  </a:lnTo>
                  <a:lnTo>
                    <a:pt x="15985066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TR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19050"/>
              <a:ext cx="15985066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898989"/>
                  </a:solidFill>
                  <a:latin typeface="Arial"/>
                  <a:ea typeface="Arial"/>
                  <a:cs typeface="Arial"/>
                  <a:sym typeface="Arial"/>
                </a:rPr>
                <a:t>CSE496 – First Presentation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6497042" y="9736138"/>
            <a:ext cx="1388533" cy="547688"/>
            <a:chOff x="0" y="0"/>
            <a:chExt cx="1851378" cy="73025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851378" cy="730250"/>
            </a:xfrm>
            <a:custGeom>
              <a:avLst/>
              <a:gdLst/>
              <a:ahLst/>
              <a:cxnLst/>
              <a:rect l="l" t="t" r="r" b="b"/>
              <a:pathLst>
                <a:path w="1851378" h="730250">
                  <a:moveTo>
                    <a:pt x="0" y="0"/>
                  </a:moveTo>
                  <a:lnTo>
                    <a:pt x="1851378" y="0"/>
                  </a:lnTo>
                  <a:lnTo>
                    <a:pt x="1851378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TR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19050"/>
              <a:ext cx="1851378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898989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</a:p>
          </p:txBody>
        </p:sp>
      </p:grpSp>
      <p:sp>
        <p:nvSpPr>
          <p:cNvPr id="18" name="Freeform 18"/>
          <p:cNvSpPr/>
          <p:nvPr/>
        </p:nvSpPr>
        <p:spPr>
          <a:xfrm>
            <a:off x="16692156" y="-341830"/>
            <a:ext cx="1633964" cy="1633964"/>
          </a:xfrm>
          <a:custGeom>
            <a:avLst/>
            <a:gdLst/>
            <a:ahLst/>
            <a:cxnLst/>
            <a:rect l="l" t="t" r="r" b="b"/>
            <a:pathLst>
              <a:path w="1633964" h="1633964">
                <a:moveTo>
                  <a:pt x="0" y="0"/>
                </a:moveTo>
                <a:lnTo>
                  <a:pt x="1633964" y="0"/>
                </a:lnTo>
                <a:lnTo>
                  <a:pt x="1633964" y="1633964"/>
                </a:lnTo>
                <a:lnTo>
                  <a:pt x="0" y="163396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TR"/>
          </a:p>
        </p:txBody>
      </p:sp>
      <p:sp>
        <p:nvSpPr>
          <p:cNvPr id="19" name="Freeform 19"/>
          <p:cNvSpPr/>
          <p:nvPr/>
        </p:nvSpPr>
        <p:spPr>
          <a:xfrm>
            <a:off x="10123176" y="1500322"/>
            <a:ext cx="6064760" cy="4043174"/>
          </a:xfrm>
          <a:custGeom>
            <a:avLst/>
            <a:gdLst/>
            <a:ahLst/>
            <a:cxnLst/>
            <a:rect l="l" t="t" r="r" b="b"/>
            <a:pathLst>
              <a:path w="6064760" h="4043174">
                <a:moveTo>
                  <a:pt x="0" y="0"/>
                </a:moveTo>
                <a:lnTo>
                  <a:pt x="6064761" y="0"/>
                </a:lnTo>
                <a:lnTo>
                  <a:pt x="6064761" y="4043173"/>
                </a:lnTo>
                <a:lnTo>
                  <a:pt x="0" y="404317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TR"/>
          </a:p>
        </p:txBody>
      </p:sp>
      <p:sp>
        <p:nvSpPr>
          <p:cNvPr id="20" name="Freeform 20"/>
          <p:cNvSpPr/>
          <p:nvPr/>
        </p:nvSpPr>
        <p:spPr>
          <a:xfrm>
            <a:off x="10240412" y="5751683"/>
            <a:ext cx="5830290" cy="3886860"/>
          </a:xfrm>
          <a:custGeom>
            <a:avLst/>
            <a:gdLst/>
            <a:ahLst/>
            <a:cxnLst/>
            <a:rect l="l" t="t" r="r" b="b"/>
            <a:pathLst>
              <a:path w="5830290" h="3886860">
                <a:moveTo>
                  <a:pt x="0" y="0"/>
                </a:moveTo>
                <a:lnTo>
                  <a:pt x="5830290" y="0"/>
                </a:lnTo>
                <a:lnTo>
                  <a:pt x="5830290" y="3886860"/>
                </a:lnTo>
                <a:lnTo>
                  <a:pt x="0" y="388686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TR"/>
          </a:p>
        </p:txBody>
      </p:sp>
      <p:sp>
        <p:nvSpPr>
          <p:cNvPr id="21" name="TextBox 21"/>
          <p:cNvSpPr txBox="1"/>
          <p:nvPr/>
        </p:nvSpPr>
        <p:spPr>
          <a:xfrm>
            <a:off x="782917" y="4047917"/>
            <a:ext cx="8115300" cy="32316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Capacity decreases monotonically with cycling</a:t>
            </a:r>
          </a:p>
          <a:p>
            <a:pPr algn="l">
              <a:lnSpc>
                <a:spcPts val="3600"/>
              </a:lnSpc>
            </a:pPr>
            <a:r>
              <a:rPr lang="en-US" sz="300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Strong lifetime difference between batches</a:t>
            </a:r>
            <a:endParaRPr lang="en-US" sz="3000" dirty="0">
              <a:solidFill>
                <a:srgbClr val="000000"/>
              </a:solidFill>
              <a:latin typeface="Roboto"/>
              <a:ea typeface="Roboto"/>
              <a:cs typeface="Roboto"/>
            </a:endParaRPr>
          </a:p>
          <a:p>
            <a:pPr>
              <a:lnSpc>
                <a:spcPts val="3600"/>
              </a:lnSpc>
            </a:pPr>
            <a:endParaRPr lang="en-US" sz="3000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algn="l">
              <a:lnSpc>
                <a:spcPts val="3600"/>
              </a:lnSpc>
            </a:pPr>
            <a:r>
              <a:rPr lang="en-US" sz="3000" b="1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Early voltage and capacity behavior:</a:t>
            </a:r>
            <a:endParaRPr lang="en-US" sz="3000" b="1" dirty="0">
              <a:solidFill>
                <a:srgbClr val="000000"/>
              </a:solidFill>
              <a:latin typeface="Roboto"/>
              <a:ea typeface="Roboto"/>
              <a:cs typeface="Roboto"/>
            </a:endParaRPr>
          </a:p>
          <a:p>
            <a:pPr>
              <a:lnSpc>
                <a:spcPts val="3600"/>
              </a:lnSpc>
            </a:pPr>
            <a:r>
              <a:rPr lang="en-US" sz="300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 Contains predictive degradation signatures</a:t>
            </a:r>
          </a:p>
          <a:p>
            <a:pPr>
              <a:lnSpc>
                <a:spcPts val="3600"/>
              </a:lnSpc>
            </a:pPr>
            <a:r>
              <a:rPr lang="en-US" sz="300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 Confirms bimodal lifetime distribution</a:t>
            </a:r>
            <a:endParaRPr lang="en-US" sz="3000" dirty="0">
              <a:solidFill>
                <a:srgbClr val="000000"/>
              </a:solidFill>
              <a:latin typeface="Roboto"/>
              <a:ea typeface="Roboto"/>
              <a:cs typeface="Roboto"/>
            </a:endParaRPr>
          </a:p>
          <a:p>
            <a:pPr algn="l">
              <a:lnSpc>
                <a:spcPts val="3600"/>
              </a:lnSpc>
            </a:pPr>
            <a:endParaRPr lang="en-US" sz="30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93694" y="9877110"/>
            <a:ext cx="2232666" cy="3431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000090"/>
                </a:solidFill>
                <a:latin typeface="Arial"/>
                <a:ea typeface="Arial"/>
                <a:cs typeface="Arial"/>
                <a:sym typeface="Arial"/>
              </a:rPr>
              <a:t>www.gtu.edu.tr</a:t>
            </a:r>
          </a:p>
        </p:txBody>
      </p:sp>
      <p:sp>
        <p:nvSpPr>
          <p:cNvPr id="3" name="AutoShape 3"/>
          <p:cNvSpPr/>
          <p:nvPr/>
        </p:nvSpPr>
        <p:spPr>
          <a:xfrm>
            <a:off x="20" y="1054020"/>
            <a:ext cx="18326100" cy="38100"/>
          </a:xfrm>
          <a:prstGeom prst="line">
            <a:avLst/>
          </a:prstGeom>
          <a:ln w="19050" cap="rnd">
            <a:solidFill>
              <a:srgbClr val="1A2A6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TR"/>
          </a:p>
        </p:txBody>
      </p:sp>
      <p:sp>
        <p:nvSpPr>
          <p:cNvPr id="4" name="AutoShape 4"/>
          <p:cNvSpPr/>
          <p:nvPr/>
        </p:nvSpPr>
        <p:spPr>
          <a:xfrm>
            <a:off x="20" y="1142914"/>
            <a:ext cx="18326100" cy="38100"/>
          </a:xfrm>
          <a:prstGeom prst="line">
            <a:avLst/>
          </a:prstGeom>
          <a:ln w="19050" cap="rnd">
            <a:solidFill>
              <a:srgbClr val="EE801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TR"/>
          </a:p>
        </p:txBody>
      </p:sp>
      <p:sp>
        <p:nvSpPr>
          <p:cNvPr id="5" name="AutoShape 5"/>
          <p:cNvSpPr/>
          <p:nvPr/>
        </p:nvSpPr>
        <p:spPr>
          <a:xfrm>
            <a:off x="20" y="1244509"/>
            <a:ext cx="18326100" cy="38100"/>
          </a:xfrm>
          <a:prstGeom prst="line">
            <a:avLst/>
          </a:prstGeom>
          <a:ln w="19050" cap="rnd">
            <a:solidFill>
              <a:srgbClr val="C1203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TR"/>
          </a:p>
        </p:txBody>
      </p:sp>
      <p:grpSp>
        <p:nvGrpSpPr>
          <p:cNvPr id="6" name="Group 6"/>
          <p:cNvGrpSpPr/>
          <p:nvPr/>
        </p:nvGrpSpPr>
        <p:grpSpPr>
          <a:xfrm>
            <a:off x="393695" y="65415"/>
            <a:ext cx="14632946" cy="1140995"/>
            <a:chOff x="0" y="0"/>
            <a:chExt cx="19510594" cy="152132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9510594" cy="1521326"/>
            </a:xfrm>
            <a:custGeom>
              <a:avLst/>
              <a:gdLst/>
              <a:ahLst/>
              <a:cxnLst/>
              <a:rect l="l" t="t" r="r" b="b"/>
              <a:pathLst>
                <a:path w="19510594" h="1521326">
                  <a:moveTo>
                    <a:pt x="0" y="0"/>
                  </a:moveTo>
                  <a:lnTo>
                    <a:pt x="19510594" y="0"/>
                  </a:lnTo>
                  <a:lnTo>
                    <a:pt x="19510594" y="1521326"/>
                  </a:lnTo>
                  <a:lnTo>
                    <a:pt x="0" y="152132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TR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28575"/>
              <a:ext cx="19510594" cy="154990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808"/>
                </a:lnSpc>
              </a:pPr>
              <a:r>
                <a:rPr lang="en-US" sz="4840" b="1">
                  <a:solidFill>
                    <a:srgbClr val="1A3576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Machine Learning Models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4911228" y="9736138"/>
            <a:ext cx="1585812" cy="547688"/>
            <a:chOff x="0" y="0"/>
            <a:chExt cx="2114416" cy="73025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114416" cy="730250"/>
            </a:xfrm>
            <a:custGeom>
              <a:avLst/>
              <a:gdLst/>
              <a:ahLst/>
              <a:cxnLst/>
              <a:rect l="l" t="t" r="r" b="b"/>
              <a:pathLst>
                <a:path w="2114416" h="730250">
                  <a:moveTo>
                    <a:pt x="0" y="0"/>
                  </a:moveTo>
                  <a:lnTo>
                    <a:pt x="2114416" y="0"/>
                  </a:lnTo>
                  <a:lnTo>
                    <a:pt x="2114416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TR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19050"/>
              <a:ext cx="2114416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898989"/>
                  </a:solidFill>
                  <a:latin typeface="Arial"/>
                  <a:ea typeface="Arial"/>
                  <a:cs typeface="Arial"/>
                  <a:sym typeface="Arial"/>
                </a:rPr>
                <a:t>14.10.2025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2514600" y="9736138"/>
            <a:ext cx="11988799" cy="547688"/>
            <a:chOff x="0" y="0"/>
            <a:chExt cx="15985066" cy="73025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5985066" cy="730250"/>
            </a:xfrm>
            <a:custGeom>
              <a:avLst/>
              <a:gdLst/>
              <a:ahLst/>
              <a:cxnLst/>
              <a:rect l="l" t="t" r="r" b="b"/>
              <a:pathLst>
                <a:path w="15985066" h="730250">
                  <a:moveTo>
                    <a:pt x="0" y="0"/>
                  </a:moveTo>
                  <a:lnTo>
                    <a:pt x="15985066" y="0"/>
                  </a:lnTo>
                  <a:lnTo>
                    <a:pt x="15985066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TR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19050"/>
              <a:ext cx="15985066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898989"/>
                  </a:solidFill>
                  <a:latin typeface="Arial"/>
                  <a:ea typeface="Arial"/>
                  <a:cs typeface="Arial"/>
                  <a:sym typeface="Arial"/>
                </a:rPr>
                <a:t>CSE496 – First Presentation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6497042" y="9736138"/>
            <a:ext cx="1388533" cy="547688"/>
            <a:chOff x="0" y="0"/>
            <a:chExt cx="1851378" cy="73025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851378" cy="730250"/>
            </a:xfrm>
            <a:custGeom>
              <a:avLst/>
              <a:gdLst/>
              <a:ahLst/>
              <a:cxnLst/>
              <a:rect l="l" t="t" r="r" b="b"/>
              <a:pathLst>
                <a:path w="1851378" h="730250">
                  <a:moveTo>
                    <a:pt x="0" y="0"/>
                  </a:moveTo>
                  <a:lnTo>
                    <a:pt x="1851378" y="0"/>
                  </a:lnTo>
                  <a:lnTo>
                    <a:pt x="1851378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TR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19050"/>
              <a:ext cx="1851378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898989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</a:p>
          </p:txBody>
        </p:sp>
      </p:grpSp>
      <p:sp>
        <p:nvSpPr>
          <p:cNvPr id="18" name="Freeform 18"/>
          <p:cNvSpPr/>
          <p:nvPr/>
        </p:nvSpPr>
        <p:spPr>
          <a:xfrm>
            <a:off x="16692156" y="-246485"/>
            <a:ext cx="1633964" cy="1633964"/>
          </a:xfrm>
          <a:custGeom>
            <a:avLst/>
            <a:gdLst/>
            <a:ahLst/>
            <a:cxnLst/>
            <a:rect l="l" t="t" r="r" b="b"/>
            <a:pathLst>
              <a:path w="1633964" h="1633964">
                <a:moveTo>
                  <a:pt x="0" y="0"/>
                </a:moveTo>
                <a:lnTo>
                  <a:pt x="1633964" y="0"/>
                </a:lnTo>
                <a:lnTo>
                  <a:pt x="1633964" y="1633964"/>
                </a:lnTo>
                <a:lnTo>
                  <a:pt x="0" y="163396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TR"/>
          </a:p>
        </p:txBody>
      </p:sp>
      <p:sp>
        <p:nvSpPr>
          <p:cNvPr id="19" name="Freeform 19"/>
          <p:cNvSpPr/>
          <p:nvPr/>
        </p:nvSpPr>
        <p:spPr>
          <a:xfrm>
            <a:off x="10074222" y="1715494"/>
            <a:ext cx="5629913" cy="3753275"/>
          </a:xfrm>
          <a:custGeom>
            <a:avLst/>
            <a:gdLst/>
            <a:ahLst/>
            <a:cxnLst/>
            <a:rect l="l" t="t" r="r" b="b"/>
            <a:pathLst>
              <a:path w="5629913" h="3753275">
                <a:moveTo>
                  <a:pt x="0" y="0"/>
                </a:moveTo>
                <a:lnTo>
                  <a:pt x="5629912" y="0"/>
                </a:lnTo>
                <a:lnTo>
                  <a:pt x="5629912" y="3753275"/>
                </a:lnTo>
                <a:lnTo>
                  <a:pt x="0" y="37532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TR"/>
          </a:p>
        </p:txBody>
      </p:sp>
      <p:sp>
        <p:nvSpPr>
          <p:cNvPr id="20" name="Freeform 20"/>
          <p:cNvSpPr/>
          <p:nvPr/>
        </p:nvSpPr>
        <p:spPr>
          <a:xfrm>
            <a:off x="10464442" y="5792116"/>
            <a:ext cx="5431014" cy="3620676"/>
          </a:xfrm>
          <a:custGeom>
            <a:avLst/>
            <a:gdLst/>
            <a:ahLst/>
            <a:cxnLst/>
            <a:rect l="l" t="t" r="r" b="b"/>
            <a:pathLst>
              <a:path w="5431014" h="3620676">
                <a:moveTo>
                  <a:pt x="0" y="0"/>
                </a:moveTo>
                <a:lnTo>
                  <a:pt x="5431014" y="0"/>
                </a:lnTo>
                <a:lnTo>
                  <a:pt x="5431014" y="3620676"/>
                </a:lnTo>
                <a:lnTo>
                  <a:pt x="0" y="36206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TR"/>
          </a:p>
        </p:txBody>
      </p:sp>
      <p:sp>
        <p:nvSpPr>
          <p:cNvPr id="21" name="TextBox 21"/>
          <p:cNvSpPr txBox="1"/>
          <p:nvPr/>
        </p:nvSpPr>
        <p:spPr>
          <a:xfrm>
            <a:off x="1047093" y="2314575"/>
            <a:ext cx="6663074" cy="6943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60"/>
              </a:lnSpc>
            </a:pPr>
            <a:r>
              <a:rPr lang="en-US" sz="3300" b="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Linear baseline:</a:t>
            </a:r>
          </a:p>
          <a:p>
            <a:pPr algn="ctr">
              <a:lnSpc>
                <a:spcPts val="3960"/>
              </a:lnSpc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ElasticNet</a:t>
            </a:r>
          </a:p>
          <a:p>
            <a:pPr algn="ctr">
              <a:lnSpc>
                <a:spcPts val="3960"/>
              </a:lnSpc>
            </a:pPr>
            <a:endParaRPr lang="en-US" sz="33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algn="ctr">
              <a:lnSpc>
                <a:spcPts val="3960"/>
              </a:lnSpc>
            </a:pPr>
            <a:r>
              <a:rPr lang="en-US" sz="3300" b="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Tree-based ensemble models:</a:t>
            </a:r>
          </a:p>
          <a:p>
            <a:pPr algn="ctr">
              <a:lnSpc>
                <a:spcPts val="3960"/>
              </a:lnSpc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Random Forest</a:t>
            </a:r>
          </a:p>
          <a:p>
            <a:pPr algn="ctr">
              <a:lnSpc>
                <a:spcPts val="3960"/>
              </a:lnSpc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XGBoost</a:t>
            </a:r>
          </a:p>
          <a:p>
            <a:pPr algn="ctr">
              <a:lnSpc>
                <a:spcPts val="3960"/>
              </a:lnSpc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CatBoost</a:t>
            </a:r>
          </a:p>
          <a:p>
            <a:pPr algn="ctr">
              <a:lnSpc>
                <a:spcPts val="3960"/>
              </a:lnSpc>
            </a:pPr>
            <a:endParaRPr lang="en-US" sz="33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algn="ctr">
              <a:lnSpc>
                <a:spcPts val="3960"/>
              </a:lnSpc>
            </a:pPr>
            <a:r>
              <a:rPr lang="en-US" sz="3300" b="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Motivation:</a:t>
            </a:r>
          </a:p>
          <a:p>
            <a:pPr algn="ctr">
              <a:lnSpc>
                <a:spcPts val="3960"/>
              </a:lnSpc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Capture nonlinear degradation behavior</a:t>
            </a:r>
          </a:p>
          <a:p>
            <a:pPr algn="ctr">
              <a:lnSpc>
                <a:spcPts val="3960"/>
              </a:lnSpc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Robust performance on tabular data</a:t>
            </a:r>
          </a:p>
          <a:p>
            <a:pPr algn="l">
              <a:lnSpc>
                <a:spcPts val="3960"/>
              </a:lnSpc>
            </a:pPr>
            <a:endParaRPr lang="en-US" sz="33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93694" y="9877110"/>
            <a:ext cx="2232666" cy="3431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000090"/>
                </a:solidFill>
                <a:latin typeface="Arial"/>
                <a:ea typeface="Arial"/>
                <a:cs typeface="Arial"/>
                <a:sym typeface="Arial"/>
              </a:rPr>
              <a:t>www.gtu.edu.tr</a:t>
            </a:r>
          </a:p>
        </p:txBody>
      </p:sp>
      <p:sp>
        <p:nvSpPr>
          <p:cNvPr id="3" name="AutoShape 3"/>
          <p:cNvSpPr/>
          <p:nvPr/>
        </p:nvSpPr>
        <p:spPr>
          <a:xfrm>
            <a:off x="20" y="1054020"/>
            <a:ext cx="18326100" cy="38100"/>
          </a:xfrm>
          <a:prstGeom prst="line">
            <a:avLst/>
          </a:prstGeom>
          <a:ln w="19050" cap="rnd">
            <a:solidFill>
              <a:srgbClr val="1A2A6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TR"/>
          </a:p>
        </p:txBody>
      </p:sp>
      <p:sp>
        <p:nvSpPr>
          <p:cNvPr id="4" name="AutoShape 4"/>
          <p:cNvSpPr/>
          <p:nvPr/>
        </p:nvSpPr>
        <p:spPr>
          <a:xfrm>
            <a:off x="20" y="1142914"/>
            <a:ext cx="18326100" cy="38100"/>
          </a:xfrm>
          <a:prstGeom prst="line">
            <a:avLst/>
          </a:prstGeom>
          <a:ln w="19050" cap="rnd">
            <a:solidFill>
              <a:srgbClr val="EE801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TR"/>
          </a:p>
        </p:txBody>
      </p:sp>
      <p:sp>
        <p:nvSpPr>
          <p:cNvPr id="5" name="AutoShape 5"/>
          <p:cNvSpPr/>
          <p:nvPr/>
        </p:nvSpPr>
        <p:spPr>
          <a:xfrm>
            <a:off x="20" y="1244509"/>
            <a:ext cx="18326100" cy="38100"/>
          </a:xfrm>
          <a:prstGeom prst="line">
            <a:avLst/>
          </a:prstGeom>
          <a:ln w="19050" cap="rnd">
            <a:solidFill>
              <a:srgbClr val="C1203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TR"/>
          </a:p>
        </p:txBody>
      </p:sp>
      <p:grpSp>
        <p:nvGrpSpPr>
          <p:cNvPr id="6" name="Group 6"/>
          <p:cNvGrpSpPr/>
          <p:nvPr/>
        </p:nvGrpSpPr>
        <p:grpSpPr>
          <a:xfrm>
            <a:off x="393695" y="65415"/>
            <a:ext cx="14632946" cy="1140995"/>
            <a:chOff x="0" y="0"/>
            <a:chExt cx="19510594" cy="152132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9510594" cy="1521326"/>
            </a:xfrm>
            <a:custGeom>
              <a:avLst/>
              <a:gdLst/>
              <a:ahLst/>
              <a:cxnLst/>
              <a:rect l="l" t="t" r="r" b="b"/>
              <a:pathLst>
                <a:path w="19510594" h="1521326">
                  <a:moveTo>
                    <a:pt x="0" y="0"/>
                  </a:moveTo>
                  <a:lnTo>
                    <a:pt x="19510594" y="0"/>
                  </a:lnTo>
                  <a:lnTo>
                    <a:pt x="19510594" y="1521326"/>
                  </a:lnTo>
                  <a:lnTo>
                    <a:pt x="0" y="152132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TR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28575"/>
              <a:ext cx="19510594" cy="154990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808"/>
                </a:lnSpc>
              </a:pPr>
              <a:r>
                <a:rPr lang="en-US" sz="4840" b="1">
                  <a:solidFill>
                    <a:srgbClr val="1A3576"/>
                  </a:solidFill>
                  <a:latin typeface="Arial Bold"/>
                  <a:ea typeface="Arial Bold"/>
                  <a:cs typeface="Arial Bold"/>
                  <a:sym typeface="Arial Bold"/>
                </a:rPr>
                <a:t>Evaluation Strategy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4911228" y="9736138"/>
            <a:ext cx="1585812" cy="547688"/>
            <a:chOff x="0" y="0"/>
            <a:chExt cx="2114416" cy="73025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114416" cy="730250"/>
            </a:xfrm>
            <a:custGeom>
              <a:avLst/>
              <a:gdLst/>
              <a:ahLst/>
              <a:cxnLst/>
              <a:rect l="l" t="t" r="r" b="b"/>
              <a:pathLst>
                <a:path w="2114416" h="730250">
                  <a:moveTo>
                    <a:pt x="0" y="0"/>
                  </a:moveTo>
                  <a:lnTo>
                    <a:pt x="2114416" y="0"/>
                  </a:lnTo>
                  <a:lnTo>
                    <a:pt x="2114416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TR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19050"/>
              <a:ext cx="2114416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898989"/>
                  </a:solidFill>
                  <a:latin typeface="Arial"/>
                  <a:ea typeface="Arial"/>
                  <a:cs typeface="Arial"/>
                  <a:sym typeface="Arial"/>
                </a:rPr>
                <a:t>14.10.2025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2514600" y="9736138"/>
            <a:ext cx="11988799" cy="547688"/>
            <a:chOff x="0" y="0"/>
            <a:chExt cx="15985066" cy="73025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5985066" cy="730250"/>
            </a:xfrm>
            <a:custGeom>
              <a:avLst/>
              <a:gdLst/>
              <a:ahLst/>
              <a:cxnLst/>
              <a:rect l="l" t="t" r="r" b="b"/>
              <a:pathLst>
                <a:path w="15985066" h="730250">
                  <a:moveTo>
                    <a:pt x="0" y="0"/>
                  </a:moveTo>
                  <a:lnTo>
                    <a:pt x="15985066" y="0"/>
                  </a:lnTo>
                  <a:lnTo>
                    <a:pt x="15985066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TR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19050"/>
              <a:ext cx="15985066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898989"/>
                  </a:solidFill>
                  <a:latin typeface="Arial"/>
                  <a:ea typeface="Arial"/>
                  <a:cs typeface="Arial"/>
                  <a:sym typeface="Arial"/>
                </a:rPr>
                <a:t>CSE496 – First Presentation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6497042" y="9736138"/>
            <a:ext cx="1388533" cy="547688"/>
            <a:chOff x="0" y="0"/>
            <a:chExt cx="1851378" cy="73025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851378" cy="730250"/>
            </a:xfrm>
            <a:custGeom>
              <a:avLst/>
              <a:gdLst/>
              <a:ahLst/>
              <a:cxnLst/>
              <a:rect l="l" t="t" r="r" b="b"/>
              <a:pathLst>
                <a:path w="1851378" h="730250">
                  <a:moveTo>
                    <a:pt x="0" y="0"/>
                  </a:moveTo>
                  <a:lnTo>
                    <a:pt x="1851378" y="0"/>
                  </a:lnTo>
                  <a:lnTo>
                    <a:pt x="1851378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TR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19050"/>
              <a:ext cx="1851378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898989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</a:p>
          </p:txBody>
        </p:sp>
      </p:grpSp>
      <p:sp>
        <p:nvSpPr>
          <p:cNvPr id="18" name="Freeform 18"/>
          <p:cNvSpPr/>
          <p:nvPr/>
        </p:nvSpPr>
        <p:spPr>
          <a:xfrm>
            <a:off x="16692156" y="-246485"/>
            <a:ext cx="1633964" cy="1633964"/>
          </a:xfrm>
          <a:custGeom>
            <a:avLst/>
            <a:gdLst/>
            <a:ahLst/>
            <a:cxnLst/>
            <a:rect l="l" t="t" r="r" b="b"/>
            <a:pathLst>
              <a:path w="1633964" h="1633964">
                <a:moveTo>
                  <a:pt x="0" y="0"/>
                </a:moveTo>
                <a:lnTo>
                  <a:pt x="1633964" y="0"/>
                </a:lnTo>
                <a:lnTo>
                  <a:pt x="1633964" y="1633964"/>
                </a:lnTo>
                <a:lnTo>
                  <a:pt x="0" y="163396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TR"/>
          </a:p>
        </p:txBody>
      </p:sp>
      <p:sp>
        <p:nvSpPr>
          <p:cNvPr id="19" name="Freeform 19"/>
          <p:cNvSpPr/>
          <p:nvPr/>
        </p:nvSpPr>
        <p:spPr>
          <a:xfrm>
            <a:off x="218209" y="2467672"/>
            <a:ext cx="12004554" cy="5672152"/>
          </a:xfrm>
          <a:custGeom>
            <a:avLst/>
            <a:gdLst/>
            <a:ahLst/>
            <a:cxnLst/>
            <a:rect l="l" t="t" r="r" b="b"/>
            <a:pathLst>
              <a:path w="12004554" h="5672152">
                <a:moveTo>
                  <a:pt x="0" y="0"/>
                </a:moveTo>
                <a:lnTo>
                  <a:pt x="12004553" y="0"/>
                </a:lnTo>
                <a:lnTo>
                  <a:pt x="12004553" y="5672151"/>
                </a:lnTo>
                <a:lnTo>
                  <a:pt x="0" y="567215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TR"/>
          </a:p>
        </p:txBody>
      </p:sp>
      <p:sp>
        <p:nvSpPr>
          <p:cNvPr id="20" name="TextBox 20"/>
          <p:cNvSpPr txBox="1"/>
          <p:nvPr/>
        </p:nvSpPr>
        <p:spPr>
          <a:xfrm>
            <a:off x="11695103" y="2799559"/>
            <a:ext cx="6663074" cy="5505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Cell-aware deterministic split</a:t>
            </a:r>
          </a:p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Train / validation / test by cell</a:t>
            </a:r>
          </a:p>
          <a:p>
            <a:pPr algn="ctr">
              <a:lnSpc>
                <a:spcPts val="3600"/>
              </a:lnSpc>
            </a:pPr>
            <a:endParaRPr lang="en-US" sz="30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algn="ctr">
              <a:lnSpc>
                <a:spcPts val="3600"/>
              </a:lnSpc>
            </a:pPr>
            <a:r>
              <a:rPr lang="en-US" sz="3000" b="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GroupKFold cross-validation</a:t>
            </a:r>
          </a:p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Prevents information leakage</a:t>
            </a:r>
          </a:p>
          <a:p>
            <a:pPr algn="ctr">
              <a:lnSpc>
                <a:spcPts val="3600"/>
              </a:lnSpc>
            </a:pPr>
            <a:endParaRPr lang="en-US" sz="30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algn="ctr">
              <a:lnSpc>
                <a:spcPts val="3600"/>
              </a:lnSpc>
            </a:pPr>
            <a:r>
              <a:rPr lang="en-US" sz="3000" b="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Evaluation metrics:</a:t>
            </a:r>
          </a:p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MAE (primary)</a:t>
            </a:r>
          </a:p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R²</a:t>
            </a:r>
          </a:p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MAPE</a:t>
            </a:r>
          </a:p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SMAPE</a:t>
            </a:r>
          </a:p>
          <a:p>
            <a:pPr algn="l">
              <a:lnSpc>
                <a:spcPts val="3600"/>
              </a:lnSpc>
            </a:pPr>
            <a:endParaRPr lang="en-US" sz="30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93694" y="9877110"/>
            <a:ext cx="2232666" cy="3431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000090"/>
                </a:solidFill>
                <a:latin typeface="Arial"/>
                <a:ea typeface="Arial"/>
                <a:cs typeface="Arial"/>
                <a:sym typeface="Arial"/>
              </a:rPr>
              <a:t>www.gtu.edu.tr</a:t>
            </a:r>
          </a:p>
        </p:txBody>
      </p:sp>
      <p:sp>
        <p:nvSpPr>
          <p:cNvPr id="3" name="AutoShape 3"/>
          <p:cNvSpPr/>
          <p:nvPr/>
        </p:nvSpPr>
        <p:spPr>
          <a:xfrm>
            <a:off x="20" y="1054020"/>
            <a:ext cx="18326100" cy="38100"/>
          </a:xfrm>
          <a:prstGeom prst="line">
            <a:avLst/>
          </a:prstGeom>
          <a:ln w="19050" cap="rnd">
            <a:solidFill>
              <a:srgbClr val="1A2A6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TR"/>
          </a:p>
        </p:txBody>
      </p:sp>
      <p:sp>
        <p:nvSpPr>
          <p:cNvPr id="4" name="AutoShape 4"/>
          <p:cNvSpPr/>
          <p:nvPr/>
        </p:nvSpPr>
        <p:spPr>
          <a:xfrm>
            <a:off x="20" y="1142914"/>
            <a:ext cx="18326100" cy="38100"/>
          </a:xfrm>
          <a:prstGeom prst="line">
            <a:avLst/>
          </a:prstGeom>
          <a:ln w="19050" cap="rnd">
            <a:solidFill>
              <a:srgbClr val="EE801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TR"/>
          </a:p>
        </p:txBody>
      </p:sp>
      <p:sp>
        <p:nvSpPr>
          <p:cNvPr id="5" name="AutoShape 5"/>
          <p:cNvSpPr/>
          <p:nvPr/>
        </p:nvSpPr>
        <p:spPr>
          <a:xfrm>
            <a:off x="20" y="1244509"/>
            <a:ext cx="18326100" cy="38100"/>
          </a:xfrm>
          <a:prstGeom prst="line">
            <a:avLst/>
          </a:prstGeom>
          <a:ln w="19050" cap="rnd">
            <a:solidFill>
              <a:srgbClr val="C1203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TR"/>
          </a:p>
        </p:txBody>
      </p:sp>
      <p:grpSp>
        <p:nvGrpSpPr>
          <p:cNvPr id="6" name="Group 6"/>
          <p:cNvGrpSpPr/>
          <p:nvPr/>
        </p:nvGrpSpPr>
        <p:grpSpPr>
          <a:xfrm>
            <a:off x="393695" y="65415"/>
            <a:ext cx="14632946" cy="1140995"/>
            <a:chOff x="0" y="0"/>
            <a:chExt cx="19510594" cy="152132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9510594" cy="1521326"/>
            </a:xfrm>
            <a:custGeom>
              <a:avLst/>
              <a:gdLst/>
              <a:ahLst/>
              <a:cxnLst/>
              <a:rect l="l" t="t" r="r" b="b"/>
              <a:pathLst>
                <a:path w="19510594" h="1521326">
                  <a:moveTo>
                    <a:pt x="0" y="0"/>
                  </a:moveTo>
                  <a:lnTo>
                    <a:pt x="19510594" y="0"/>
                  </a:lnTo>
                  <a:lnTo>
                    <a:pt x="19510594" y="1521326"/>
                  </a:lnTo>
                  <a:lnTo>
                    <a:pt x="0" y="152132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TR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28575"/>
              <a:ext cx="19510594" cy="154990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808"/>
                </a:lnSpc>
              </a:pPr>
              <a:r>
                <a:rPr lang="en-US" sz="4840" b="1">
                  <a:solidFill>
                    <a:srgbClr val="1A3576"/>
                  </a:solidFill>
                  <a:latin typeface="Arial Bold"/>
                  <a:ea typeface="Arial Bold"/>
                  <a:cs typeface="Arial Bold"/>
                  <a:sym typeface="Arial Bold"/>
                </a:rPr>
                <a:t>Feature Importance Analysis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4911228" y="9736138"/>
            <a:ext cx="1585812" cy="547688"/>
            <a:chOff x="0" y="0"/>
            <a:chExt cx="2114416" cy="73025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114416" cy="730250"/>
            </a:xfrm>
            <a:custGeom>
              <a:avLst/>
              <a:gdLst/>
              <a:ahLst/>
              <a:cxnLst/>
              <a:rect l="l" t="t" r="r" b="b"/>
              <a:pathLst>
                <a:path w="2114416" h="730250">
                  <a:moveTo>
                    <a:pt x="0" y="0"/>
                  </a:moveTo>
                  <a:lnTo>
                    <a:pt x="2114416" y="0"/>
                  </a:lnTo>
                  <a:lnTo>
                    <a:pt x="2114416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TR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19050"/>
              <a:ext cx="2114416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898989"/>
                  </a:solidFill>
                  <a:latin typeface="Arial"/>
                  <a:ea typeface="Arial"/>
                  <a:cs typeface="Arial"/>
                  <a:sym typeface="Arial"/>
                </a:rPr>
                <a:t>14.10.2025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2514600" y="9736138"/>
            <a:ext cx="11988799" cy="547688"/>
            <a:chOff x="0" y="0"/>
            <a:chExt cx="15985066" cy="73025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5985066" cy="730250"/>
            </a:xfrm>
            <a:custGeom>
              <a:avLst/>
              <a:gdLst/>
              <a:ahLst/>
              <a:cxnLst/>
              <a:rect l="l" t="t" r="r" b="b"/>
              <a:pathLst>
                <a:path w="15985066" h="730250">
                  <a:moveTo>
                    <a:pt x="0" y="0"/>
                  </a:moveTo>
                  <a:lnTo>
                    <a:pt x="15985066" y="0"/>
                  </a:lnTo>
                  <a:lnTo>
                    <a:pt x="15985066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TR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19050"/>
              <a:ext cx="15985066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898989"/>
                  </a:solidFill>
                  <a:latin typeface="Arial"/>
                  <a:ea typeface="Arial"/>
                  <a:cs typeface="Arial"/>
                  <a:sym typeface="Arial"/>
                </a:rPr>
                <a:t>CSE496 – First Presentation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6497042" y="9736138"/>
            <a:ext cx="1388533" cy="547688"/>
            <a:chOff x="0" y="0"/>
            <a:chExt cx="1851378" cy="73025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851378" cy="730250"/>
            </a:xfrm>
            <a:custGeom>
              <a:avLst/>
              <a:gdLst/>
              <a:ahLst/>
              <a:cxnLst/>
              <a:rect l="l" t="t" r="r" b="b"/>
              <a:pathLst>
                <a:path w="1851378" h="730250">
                  <a:moveTo>
                    <a:pt x="0" y="0"/>
                  </a:moveTo>
                  <a:lnTo>
                    <a:pt x="1851378" y="0"/>
                  </a:lnTo>
                  <a:lnTo>
                    <a:pt x="1851378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TR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19050"/>
              <a:ext cx="1851378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898989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</a:p>
          </p:txBody>
        </p:sp>
      </p:grpSp>
      <p:sp>
        <p:nvSpPr>
          <p:cNvPr id="18" name="Freeform 18"/>
          <p:cNvSpPr/>
          <p:nvPr/>
        </p:nvSpPr>
        <p:spPr>
          <a:xfrm>
            <a:off x="16692156" y="-246485"/>
            <a:ext cx="1633964" cy="1633964"/>
          </a:xfrm>
          <a:custGeom>
            <a:avLst/>
            <a:gdLst/>
            <a:ahLst/>
            <a:cxnLst/>
            <a:rect l="l" t="t" r="r" b="b"/>
            <a:pathLst>
              <a:path w="1633964" h="1633964">
                <a:moveTo>
                  <a:pt x="0" y="0"/>
                </a:moveTo>
                <a:lnTo>
                  <a:pt x="1633964" y="0"/>
                </a:lnTo>
                <a:lnTo>
                  <a:pt x="1633964" y="1633964"/>
                </a:lnTo>
                <a:lnTo>
                  <a:pt x="0" y="163396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TR"/>
          </a:p>
        </p:txBody>
      </p:sp>
      <p:sp>
        <p:nvSpPr>
          <p:cNvPr id="19" name="Freeform 19"/>
          <p:cNvSpPr/>
          <p:nvPr/>
        </p:nvSpPr>
        <p:spPr>
          <a:xfrm>
            <a:off x="1110439" y="2793420"/>
            <a:ext cx="16067122" cy="5355707"/>
          </a:xfrm>
          <a:custGeom>
            <a:avLst/>
            <a:gdLst/>
            <a:ahLst/>
            <a:cxnLst/>
            <a:rect l="l" t="t" r="r" b="b"/>
            <a:pathLst>
              <a:path w="16067122" h="5355707">
                <a:moveTo>
                  <a:pt x="0" y="0"/>
                </a:moveTo>
                <a:lnTo>
                  <a:pt x="16067122" y="0"/>
                </a:lnTo>
                <a:lnTo>
                  <a:pt x="16067122" y="5355708"/>
                </a:lnTo>
                <a:lnTo>
                  <a:pt x="0" y="53557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93694" y="9877110"/>
            <a:ext cx="2232666" cy="3431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000090"/>
                </a:solidFill>
                <a:latin typeface="Arial"/>
                <a:ea typeface="Arial"/>
                <a:cs typeface="Arial"/>
                <a:sym typeface="Arial"/>
              </a:rPr>
              <a:t>www.gtu.edu.tr</a:t>
            </a:r>
          </a:p>
        </p:txBody>
      </p:sp>
      <p:sp>
        <p:nvSpPr>
          <p:cNvPr id="3" name="AutoShape 3"/>
          <p:cNvSpPr/>
          <p:nvPr/>
        </p:nvSpPr>
        <p:spPr>
          <a:xfrm>
            <a:off x="20" y="1054020"/>
            <a:ext cx="18326100" cy="38100"/>
          </a:xfrm>
          <a:prstGeom prst="line">
            <a:avLst/>
          </a:prstGeom>
          <a:ln w="19050" cap="rnd">
            <a:solidFill>
              <a:srgbClr val="1A2A6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TR"/>
          </a:p>
        </p:txBody>
      </p:sp>
      <p:sp>
        <p:nvSpPr>
          <p:cNvPr id="4" name="AutoShape 4"/>
          <p:cNvSpPr/>
          <p:nvPr/>
        </p:nvSpPr>
        <p:spPr>
          <a:xfrm>
            <a:off x="20" y="1142914"/>
            <a:ext cx="18326100" cy="38100"/>
          </a:xfrm>
          <a:prstGeom prst="line">
            <a:avLst/>
          </a:prstGeom>
          <a:ln w="19050" cap="rnd">
            <a:solidFill>
              <a:srgbClr val="EE801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TR"/>
          </a:p>
        </p:txBody>
      </p:sp>
      <p:sp>
        <p:nvSpPr>
          <p:cNvPr id="5" name="AutoShape 5"/>
          <p:cNvSpPr/>
          <p:nvPr/>
        </p:nvSpPr>
        <p:spPr>
          <a:xfrm>
            <a:off x="20" y="1244509"/>
            <a:ext cx="18326100" cy="38100"/>
          </a:xfrm>
          <a:prstGeom prst="line">
            <a:avLst/>
          </a:prstGeom>
          <a:ln w="19050" cap="rnd">
            <a:solidFill>
              <a:srgbClr val="C1203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TR"/>
          </a:p>
        </p:txBody>
      </p:sp>
      <p:grpSp>
        <p:nvGrpSpPr>
          <p:cNvPr id="6" name="Group 6"/>
          <p:cNvGrpSpPr/>
          <p:nvPr/>
        </p:nvGrpSpPr>
        <p:grpSpPr>
          <a:xfrm>
            <a:off x="393695" y="65415"/>
            <a:ext cx="14632946" cy="1140995"/>
            <a:chOff x="0" y="0"/>
            <a:chExt cx="19510594" cy="152132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9510594" cy="1521326"/>
            </a:xfrm>
            <a:custGeom>
              <a:avLst/>
              <a:gdLst/>
              <a:ahLst/>
              <a:cxnLst/>
              <a:rect l="l" t="t" r="r" b="b"/>
              <a:pathLst>
                <a:path w="19510594" h="1521326">
                  <a:moveTo>
                    <a:pt x="0" y="0"/>
                  </a:moveTo>
                  <a:lnTo>
                    <a:pt x="19510594" y="0"/>
                  </a:lnTo>
                  <a:lnTo>
                    <a:pt x="19510594" y="1521326"/>
                  </a:lnTo>
                  <a:lnTo>
                    <a:pt x="0" y="152132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TR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28575"/>
              <a:ext cx="19510594" cy="154990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808"/>
                </a:lnSpc>
              </a:pPr>
              <a:r>
                <a:rPr lang="en-US" sz="4840" b="1">
                  <a:solidFill>
                    <a:srgbClr val="1A3576"/>
                  </a:solidFill>
                  <a:latin typeface="Arial Bold"/>
                  <a:ea typeface="Arial Bold"/>
                  <a:cs typeface="Arial Bold"/>
                  <a:sym typeface="Arial Bold"/>
                </a:rPr>
                <a:t>Baseline Results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4911228" y="9736138"/>
            <a:ext cx="1585812" cy="547688"/>
            <a:chOff x="0" y="0"/>
            <a:chExt cx="2114416" cy="73025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114416" cy="730250"/>
            </a:xfrm>
            <a:custGeom>
              <a:avLst/>
              <a:gdLst/>
              <a:ahLst/>
              <a:cxnLst/>
              <a:rect l="l" t="t" r="r" b="b"/>
              <a:pathLst>
                <a:path w="2114416" h="730250">
                  <a:moveTo>
                    <a:pt x="0" y="0"/>
                  </a:moveTo>
                  <a:lnTo>
                    <a:pt x="2114416" y="0"/>
                  </a:lnTo>
                  <a:lnTo>
                    <a:pt x="2114416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TR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19050"/>
              <a:ext cx="2114416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898989"/>
                  </a:solidFill>
                  <a:latin typeface="Arial"/>
                  <a:ea typeface="Arial"/>
                  <a:cs typeface="Arial"/>
                  <a:sym typeface="Arial"/>
                </a:rPr>
                <a:t>14.10.2025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2514600" y="9736138"/>
            <a:ext cx="11988799" cy="547688"/>
            <a:chOff x="0" y="0"/>
            <a:chExt cx="15985066" cy="73025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5985066" cy="730250"/>
            </a:xfrm>
            <a:custGeom>
              <a:avLst/>
              <a:gdLst/>
              <a:ahLst/>
              <a:cxnLst/>
              <a:rect l="l" t="t" r="r" b="b"/>
              <a:pathLst>
                <a:path w="15985066" h="730250">
                  <a:moveTo>
                    <a:pt x="0" y="0"/>
                  </a:moveTo>
                  <a:lnTo>
                    <a:pt x="15985066" y="0"/>
                  </a:lnTo>
                  <a:lnTo>
                    <a:pt x="15985066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TR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19050"/>
              <a:ext cx="15985066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898989"/>
                  </a:solidFill>
                  <a:latin typeface="Arial"/>
                  <a:ea typeface="Arial"/>
                  <a:cs typeface="Arial"/>
                  <a:sym typeface="Arial"/>
                </a:rPr>
                <a:t>CSE496 – First Presentation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6497042" y="9736138"/>
            <a:ext cx="1388533" cy="547688"/>
            <a:chOff x="0" y="0"/>
            <a:chExt cx="1851378" cy="73025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851378" cy="730250"/>
            </a:xfrm>
            <a:custGeom>
              <a:avLst/>
              <a:gdLst/>
              <a:ahLst/>
              <a:cxnLst/>
              <a:rect l="l" t="t" r="r" b="b"/>
              <a:pathLst>
                <a:path w="1851378" h="730250">
                  <a:moveTo>
                    <a:pt x="0" y="0"/>
                  </a:moveTo>
                  <a:lnTo>
                    <a:pt x="1851378" y="0"/>
                  </a:lnTo>
                  <a:lnTo>
                    <a:pt x="1851378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TR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19050"/>
              <a:ext cx="1851378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898989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</a:p>
          </p:txBody>
        </p:sp>
      </p:grpSp>
      <p:sp>
        <p:nvSpPr>
          <p:cNvPr id="18" name="Freeform 18"/>
          <p:cNvSpPr/>
          <p:nvPr/>
        </p:nvSpPr>
        <p:spPr>
          <a:xfrm>
            <a:off x="16692156" y="-246485"/>
            <a:ext cx="1633964" cy="1633964"/>
          </a:xfrm>
          <a:custGeom>
            <a:avLst/>
            <a:gdLst/>
            <a:ahLst/>
            <a:cxnLst/>
            <a:rect l="l" t="t" r="r" b="b"/>
            <a:pathLst>
              <a:path w="1633964" h="1633964">
                <a:moveTo>
                  <a:pt x="0" y="0"/>
                </a:moveTo>
                <a:lnTo>
                  <a:pt x="1633964" y="0"/>
                </a:lnTo>
                <a:lnTo>
                  <a:pt x="1633964" y="1633964"/>
                </a:lnTo>
                <a:lnTo>
                  <a:pt x="0" y="163396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TR"/>
          </a:p>
        </p:txBody>
      </p:sp>
      <p:sp>
        <p:nvSpPr>
          <p:cNvPr id="19" name="Freeform 19"/>
          <p:cNvSpPr/>
          <p:nvPr/>
        </p:nvSpPr>
        <p:spPr>
          <a:xfrm>
            <a:off x="2418183" y="1769967"/>
            <a:ext cx="13285951" cy="7488339"/>
          </a:xfrm>
          <a:custGeom>
            <a:avLst/>
            <a:gdLst/>
            <a:ahLst/>
            <a:cxnLst/>
            <a:rect l="l" t="t" r="r" b="b"/>
            <a:pathLst>
              <a:path w="13285951" h="7488339">
                <a:moveTo>
                  <a:pt x="0" y="0"/>
                </a:moveTo>
                <a:lnTo>
                  <a:pt x="13285951" y="0"/>
                </a:lnTo>
                <a:lnTo>
                  <a:pt x="13285951" y="7488339"/>
                </a:lnTo>
                <a:lnTo>
                  <a:pt x="0" y="74883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6453"/>
            </a:stretch>
          </a:blipFill>
        </p:spPr>
        <p:txBody>
          <a:bodyPr/>
          <a:lstStyle/>
          <a:p>
            <a:endParaRPr lang="en-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93694" y="9877110"/>
            <a:ext cx="2232666" cy="3431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000090"/>
                </a:solidFill>
                <a:latin typeface="Arial"/>
                <a:ea typeface="Arial"/>
                <a:cs typeface="Arial"/>
                <a:sym typeface="Arial"/>
              </a:rPr>
              <a:t>www.gtu.edu.tr</a:t>
            </a:r>
          </a:p>
        </p:txBody>
      </p:sp>
      <p:sp>
        <p:nvSpPr>
          <p:cNvPr id="3" name="AutoShape 3"/>
          <p:cNvSpPr/>
          <p:nvPr/>
        </p:nvSpPr>
        <p:spPr>
          <a:xfrm>
            <a:off x="20" y="1054020"/>
            <a:ext cx="18326100" cy="38100"/>
          </a:xfrm>
          <a:prstGeom prst="line">
            <a:avLst/>
          </a:prstGeom>
          <a:ln w="19050" cap="rnd">
            <a:solidFill>
              <a:srgbClr val="1A2A6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TR"/>
          </a:p>
        </p:txBody>
      </p:sp>
      <p:sp>
        <p:nvSpPr>
          <p:cNvPr id="4" name="AutoShape 4"/>
          <p:cNvSpPr/>
          <p:nvPr/>
        </p:nvSpPr>
        <p:spPr>
          <a:xfrm>
            <a:off x="20" y="1142914"/>
            <a:ext cx="18326100" cy="38100"/>
          </a:xfrm>
          <a:prstGeom prst="line">
            <a:avLst/>
          </a:prstGeom>
          <a:ln w="19050" cap="rnd">
            <a:solidFill>
              <a:srgbClr val="EE801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TR"/>
          </a:p>
        </p:txBody>
      </p:sp>
      <p:sp>
        <p:nvSpPr>
          <p:cNvPr id="5" name="AutoShape 5"/>
          <p:cNvSpPr/>
          <p:nvPr/>
        </p:nvSpPr>
        <p:spPr>
          <a:xfrm>
            <a:off x="20" y="1244509"/>
            <a:ext cx="18326100" cy="38100"/>
          </a:xfrm>
          <a:prstGeom prst="line">
            <a:avLst/>
          </a:prstGeom>
          <a:ln w="19050" cap="rnd">
            <a:solidFill>
              <a:srgbClr val="C1203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TR"/>
          </a:p>
        </p:txBody>
      </p:sp>
      <p:grpSp>
        <p:nvGrpSpPr>
          <p:cNvPr id="6" name="Group 6"/>
          <p:cNvGrpSpPr/>
          <p:nvPr/>
        </p:nvGrpSpPr>
        <p:grpSpPr>
          <a:xfrm>
            <a:off x="393695" y="65415"/>
            <a:ext cx="14632946" cy="1140995"/>
            <a:chOff x="0" y="0"/>
            <a:chExt cx="19510594" cy="152132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9510594" cy="1521326"/>
            </a:xfrm>
            <a:custGeom>
              <a:avLst/>
              <a:gdLst/>
              <a:ahLst/>
              <a:cxnLst/>
              <a:rect l="l" t="t" r="r" b="b"/>
              <a:pathLst>
                <a:path w="19510594" h="1521326">
                  <a:moveTo>
                    <a:pt x="0" y="0"/>
                  </a:moveTo>
                  <a:lnTo>
                    <a:pt x="19510594" y="0"/>
                  </a:lnTo>
                  <a:lnTo>
                    <a:pt x="19510594" y="1521326"/>
                  </a:lnTo>
                  <a:lnTo>
                    <a:pt x="0" y="152132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TR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28575"/>
              <a:ext cx="19510594" cy="154990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808"/>
                </a:lnSpc>
              </a:pPr>
              <a:r>
                <a:rPr lang="en-US" sz="4840" b="1">
                  <a:solidFill>
                    <a:srgbClr val="1A3576"/>
                  </a:solidFill>
                  <a:latin typeface="Arial Bold"/>
                  <a:ea typeface="Arial Bold"/>
                  <a:cs typeface="Arial Bold"/>
                  <a:sym typeface="Arial Bold"/>
                </a:rPr>
                <a:t>Baseline Results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4911228" y="9736138"/>
            <a:ext cx="1585812" cy="547688"/>
            <a:chOff x="0" y="0"/>
            <a:chExt cx="2114416" cy="73025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114416" cy="730250"/>
            </a:xfrm>
            <a:custGeom>
              <a:avLst/>
              <a:gdLst/>
              <a:ahLst/>
              <a:cxnLst/>
              <a:rect l="l" t="t" r="r" b="b"/>
              <a:pathLst>
                <a:path w="2114416" h="730250">
                  <a:moveTo>
                    <a:pt x="0" y="0"/>
                  </a:moveTo>
                  <a:lnTo>
                    <a:pt x="2114416" y="0"/>
                  </a:lnTo>
                  <a:lnTo>
                    <a:pt x="2114416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TR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19050"/>
              <a:ext cx="2114416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898989"/>
                  </a:solidFill>
                  <a:latin typeface="Arial"/>
                  <a:ea typeface="Arial"/>
                  <a:cs typeface="Arial"/>
                  <a:sym typeface="Arial"/>
                </a:rPr>
                <a:t>14.10.2025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2514600" y="9736138"/>
            <a:ext cx="11988799" cy="547688"/>
            <a:chOff x="0" y="0"/>
            <a:chExt cx="15985066" cy="73025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5985066" cy="730250"/>
            </a:xfrm>
            <a:custGeom>
              <a:avLst/>
              <a:gdLst/>
              <a:ahLst/>
              <a:cxnLst/>
              <a:rect l="l" t="t" r="r" b="b"/>
              <a:pathLst>
                <a:path w="15985066" h="730250">
                  <a:moveTo>
                    <a:pt x="0" y="0"/>
                  </a:moveTo>
                  <a:lnTo>
                    <a:pt x="15985066" y="0"/>
                  </a:lnTo>
                  <a:lnTo>
                    <a:pt x="15985066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TR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19050"/>
              <a:ext cx="15985066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898989"/>
                  </a:solidFill>
                  <a:latin typeface="Arial"/>
                  <a:ea typeface="Arial"/>
                  <a:cs typeface="Arial"/>
                  <a:sym typeface="Arial"/>
                </a:rPr>
                <a:t>CSE496 – First Presentation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6497042" y="9736138"/>
            <a:ext cx="1388533" cy="547688"/>
            <a:chOff x="0" y="0"/>
            <a:chExt cx="1851378" cy="73025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851378" cy="730250"/>
            </a:xfrm>
            <a:custGeom>
              <a:avLst/>
              <a:gdLst/>
              <a:ahLst/>
              <a:cxnLst/>
              <a:rect l="l" t="t" r="r" b="b"/>
              <a:pathLst>
                <a:path w="1851378" h="730250">
                  <a:moveTo>
                    <a:pt x="0" y="0"/>
                  </a:moveTo>
                  <a:lnTo>
                    <a:pt x="1851378" y="0"/>
                  </a:lnTo>
                  <a:lnTo>
                    <a:pt x="1851378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TR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19050"/>
              <a:ext cx="1851378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898989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</a:p>
          </p:txBody>
        </p:sp>
      </p:grpSp>
      <p:sp>
        <p:nvSpPr>
          <p:cNvPr id="18" name="Freeform 18"/>
          <p:cNvSpPr/>
          <p:nvPr/>
        </p:nvSpPr>
        <p:spPr>
          <a:xfrm>
            <a:off x="16692156" y="-246485"/>
            <a:ext cx="1633964" cy="1633964"/>
          </a:xfrm>
          <a:custGeom>
            <a:avLst/>
            <a:gdLst/>
            <a:ahLst/>
            <a:cxnLst/>
            <a:rect l="l" t="t" r="r" b="b"/>
            <a:pathLst>
              <a:path w="1633964" h="1633964">
                <a:moveTo>
                  <a:pt x="0" y="0"/>
                </a:moveTo>
                <a:lnTo>
                  <a:pt x="1633964" y="0"/>
                </a:lnTo>
                <a:lnTo>
                  <a:pt x="1633964" y="1633964"/>
                </a:lnTo>
                <a:lnTo>
                  <a:pt x="0" y="163396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TR"/>
          </a:p>
        </p:txBody>
      </p:sp>
      <p:sp>
        <p:nvSpPr>
          <p:cNvPr id="19" name="Freeform 19"/>
          <p:cNvSpPr/>
          <p:nvPr/>
        </p:nvSpPr>
        <p:spPr>
          <a:xfrm>
            <a:off x="879892" y="3494040"/>
            <a:ext cx="16528215" cy="3047097"/>
          </a:xfrm>
          <a:custGeom>
            <a:avLst/>
            <a:gdLst/>
            <a:ahLst/>
            <a:cxnLst/>
            <a:rect l="l" t="t" r="r" b="b"/>
            <a:pathLst>
              <a:path w="16528215" h="3047097">
                <a:moveTo>
                  <a:pt x="0" y="0"/>
                </a:moveTo>
                <a:lnTo>
                  <a:pt x="16528216" y="0"/>
                </a:lnTo>
                <a:lnTo>
                  <a:pt x="16528216" y="3047096"/>
                </a:lnTo>
                <a:lnTo>
                  <a:pt x="0" y="30470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400" b="-400"/>
            </a:stretch>
          </a:blipFill>
        </p:spPr>
        <p:txBody>
          <a:bodyPr/>
          <a:lstStyle/>
          <a:p>
            <a:endParaRPr lang="en-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93694" y="9877110"/>
            <a:ext cx="2232666" cy="3431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000090"/>
                </a:solidFill>
                <a:latin typeface="Arial"/>
                <a:ea typeface="Arial"/>
                <a:cs typeface="Arial"/>
                <a:sym typeface="Arial"/>
              </a:rPr>
              <a:t>www.gtu.edu.tr</a:t>
            </a:r>
          </a:p>
        </p:txBody>
      </p:sp>
      <p:sp>
        <p:nvSpPr>
          <p:cNvPr id="3" name="AutoShape 3"/>
          <p:cNvSpPr/>
          <p:nvPr/>
        </p:nvSpPr>
        <p:spPr>
          <a:xfrm>
            <a:off x="20" y="1054020"/>
            <a:ext cx="18326100" cy="38100"/>
          </a:xfrm>
          <a:prstGeom prst="line">
            <a:avLst/>
          </a:prstGeom>
          <a:ln w="19050" cap="rnd">
            <a:solidFill>
              <a:srgbClr val="1A2A6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TR"/>
          </a:p>
        </p:txBody>
      </p:sp>
      <p:sp>
        <p:nvSpPr>
          <p:cNvPr id="4" name="AutoShape 4"/>
          <p:cNvSpPr/>
          <p:nvPr/>
        </p:nvSpPr>
        <p:spPr>
          <a:xfrm>
            <a:off x="20" y="1142914"/>
            <a:ext cx="18326100" cy="38100"/>
          </a:xfrm>
          <a:prstGeom prst="line">
            <a:avLst/>
          </a:prstGeom>
          <a:ln w="19050" cap="rnd">
            <a:solidFill>
              <a:srgbClr val="EE801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TR"/>
          </a:p>
        </p:txBody>
      </p:sp>
      <p:sp>
        <p:nvSpPr>
          <p:cNvPr id="5" name="AutoShape 5"/>
          <p:cNvSpPr/>
          <p:nvPr/>
        </p:nvSpPr>
        <p:spPr>
          <a:xfrm>
            <a:off x="20" y="1244509"/>
            <a:ext cx="18326100" cy="38100"/>
          </a:xfrm>
          <a:prstGeom prst="line">
            <a:avLst/>
          </a:prstGeom>
          <a:ln w="19050" cap="rnd">
            <a:solidFill>
              <a:srgbClr val="C1203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TR"/>
          </a:p>
        </p:txBody>
      </p:sp>
      <p:grpSp>
        <p:nvGrpSpPr>
          <p:cNvPr id="6" name="Group 6"/>
          <p:cNvGrpSpPr/>
          <p:nvPr/>
        </p:nvGrpSpPr>
        <p:grpSpPr>
          <a:xfrm>
            <a:off x="393695" y="65415"/>
            <a:ext cx="14632946" cy="1140995"/>
            <a:chOff x="0" y="0"/>
            <a:chExt cx="19510594" cy="152132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9510594" cy="1521326"/>
            </a:xfrm>
            <a:custGeom>
              <a:avLst/>
              <a:gdLst/>
              <a:ahLst/>
              <a:cxnLst/>
              <a:rect l="l" t="t" r="r" b="b"/>
              <a:pathLst>
                <a:path w="19510594" h="1521326">
                  <a:moveTo>
                    <a:pt x="0" y="0"/>
                  </a:moveTo>
                  <a:lnTo>
                    <a:pt x="19510594" y="0"/>
                  </a:lnTo>
                  <a:lnTo>
                    <a:pt x="19510594" y="1521326"/>
                  </a:lnTo>
                  <a:lnTo>
                    <a:pt x="0" y="152132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TR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28575"/>
              <a:ext cx="19510594" cy="154990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808"/>
                </a:lnSpc>
              </a:pPr>
              <a:r>
                <a:rPr lang="en-US" sz="4840" b="1">
                  <a:solidFill>
                    <a:srgbClr val="1A3576"/>
                  </a:solidFill>
                  <a:latin typeface="Arial Bold"/>
                  <a:ea typeface="Arial Bold"/>
                  <a:cs typeface="Arial Bold"/>
                  <a:sym typeface="Arial Bold"/>
                </a:rPr>
                <a:t>Baseline Results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4911228" y="9736138"/>
            <a:ext cx="1585812" cy="547688"/>
            <a:chOff x="0" y="0"/>
            <a:chExt cx="2114416" cy="73025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114416" cy="730250"/>
            </a:xfrm>
            <a:custGeom>
              <a:avLst/>
              <a:gdLst/>
              <a:ahLst/>
              <a:cxnLst/>
              <a:rect l="l" t="t" r="r" b="b"/>
              <a:pathLst>
                <a:path w="2114416" h="730250">
                  <a:moveTo>
                    <a:pt x="0" y="0"/>
                  </a:moveTo>
                  <a:lnTo>
                    <a:pt x="2114416" y="0"/>
                  </a:lnTo>
                  <a:lnTo>
                    <a:pt x="2114416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TR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19050"/>
              <a:ext cx="2114416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898989"/>
                  </a:solidFill>
                  <a:latin typeface="Arial"/>
                  <a:ea typeface="Arial"/>
                  <a:cs typeface="Arial"/>
                  <a:sym typeface="Arial"/>
                </a:rPr>
                <a:t>14.10.2025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2514600" y="9736138"/>
            <a:ext cx="11988799" cy="547688"/>
            <a:chOff x="0" y="0"/>
            <a:chExt cx="15985066" cy="73025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5985066" cy="730250"/>
            </a:xfrm>
            <a:custGeom>
              <a:avLst/>
              <a:gdLst/>
              <a:ahLst/>
              <a:cxnLst/>
              <a:rect l="l" t="t" r="r" b="b"/>
              <a:pathLst>
                <a:path w="15985066" h="730250">
                  <a:moveTo>
                    <a:pt x="0" y="0"/>
                  </a:moveTo>
                  <a:lnTo>
                    <a:pt x="15985066" y="0"/>
                  </a:lnTo>
                  <a:lnTo>
                    <a:pt x="15985066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TR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19050"/>
              <a:ext cx="15985066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898989"/>
                  </a:solidFill>
                  <a:latin typeface="Arial"/>
                  <a:ea typeface="Arial"/>
                  <a:cs typeface="Arial"/>
                  <a:sym typeface="Arial"/>
                </a:rPr>
                <a:t>CSE496 – First Presentation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6497042" y="9736138"/>
            <a:ext cx="1388533" cy="547688"/>
            <a:chOff x="0" y="0"/>
            <a:chExt cx="1851378" cy="73025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851378" cy="730250"/>
            </a:xfrm>
            <a:custGeom>
              <a:avLst/>
              <a:gdLst/>
              <a:ahLst/>
              <a:cxnLst/>
              <a:rect l="l" t="t" r="r" b="b"/>
              <a:pathLst>
                <a:path w="1851378" h="730250">
                  <a:moveTo>
                    <a:pt x="0" y="0"/>
                  </a:moveTo>
                  <a:lnTo>
                    <a:pt x="1851378" y="0"/>
                  </a:lnTo>
                  <a:lnTo>
                    <a:pt x="1851378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TR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19050"/>
              <a:ext cx="1851378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898989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</a:p>
          </p:txBody>
        </p:sp>
      </p:grpSp>
      <p:sp>
        <p:nvSpPr>
          <p:cNvPr id="18" name="Freeform 18"/>
          <p:cNvSpPr/>
          <p:nvPr/>
        </p:nvSpPr>
        <p:spPr>
          <a:xfrm>
            <a:off x="16692156" y="-246485"/>
            <a:ext cx="1633964" cy="1633964"/>
          </a:xfrm>
          <a:custGeom>
            <a:avLst/>
            <a:gdLst/>
            <a:ahLst/>
            <a:cxnLst/>
            <a:rect l="l" t="t" r="r" b="b"/>
            <a:pathLst>
              <a:path w="1633964" h="1633964">
                <a:moveTo>
                  <a:pt x="0" y="0"/>
                </a:moveTo>
                <a:lnTo>
                  <a:pt x="1633964" y="0"/>
                </a:lnTo>
                <a:lnTo>
                  <a:pt x="1633964" y="1633964"/>
                </a:lnTo>
                <a:lnTo>
                  <a:pt x="0" y="163396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TR"/>
          </a:p>
        </p:txBody>
      </p:sp>
      <p:sp>
        <p:nvSpPr>
          <p:cNvPr id="19" name="Freeform 19"/>
          <p:cNvSpPr/>
          <p:nvPr/>
        </p:nvSpPr>
        <p:spPr>
          <a:xfrm>
            <a:off x="3766775" y="1925411"/>
            <a:ext cx="10999334" cy="7332889"/>
          </a:xfrm>
          <a:custGeom>
            <a:avLst/>
            <a:gdLst/>
            <a:ahLst/>
            <a:cxnLst/>
            <a:rect l="l" t="t" r="r" b="b"/>
            <a:pathLst>
              <a:path w="10999334" h="7332889">
                <a:moveTo>
                  <a:pt x="0" y="0"/>
                </a:moveTo>
                <a:lnTo>
                  <a:pt x="10999333" y="0"/>
                </a:lnTo>
                <a:lnTo>
                  <a:pt x="10999333" y="7332889"/>
                </a:lnTo>
                <a:lnTo>
                  <a:pt x="0" y="73328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93694" y="9877110"/>
            <a:ext cx="2232666" cy="3431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000090"/>
                </a:solidFill>
                <a:latin typeface="Arial"/>
                <a:ea typeface="Arial"/>
                <a:cs typeface="Arial"/>
                <a:sym typeface="Arial"/>
              </a:rPr>
              <a:t>www.gtu.edu.tr</a:t>
            </a:r>
          </a:p>
        </p:txBody>
      </p:sp>
      <p:sp>
        <p:nvSpPr>
          <p:cNvPr id="3" name="AutoShape 3"/>
          <p:cNvSpPr/>
          <p:nvPr/>
        </p:nvSpPr>
        <p:spPr>
          <a:xfrm>
            <a:off x="20" y="1054020"/>
            <a:ext cx="18326100" cy="38100"/>
          </a:xfrm>
          <a:prstGeom prst="line">
            <a:avLst/>
          </a:prstGeom>
          <a:ln w="19050" cap="rnd">
            <a:solidFill>
              <a:srgbClr val="1A2A6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TR"/>
          </a:p>
        </p:txBody>
      </p:sp>
      <p:sp>
        <p:nvSpPr>
          <p:cNvPr id="4" name="AutoShape 4"/>
          <p:cNvSpPr/>
          <p:nvPr/>
        </p:nvSpPr>
        <p:spPr>
          <a:xfrm>
            <a:off x="20" y="1142914"/>
            <a:ext cx="18326100" cy="38100"/>
          </a:xfrm>
          <a:prstGeom prst="line">
            <a:avLst/>
          </a:prstGeom>
          <a:ln w="19050" cap="rnd">
            <a:solidFill>
              <a:srgbClr val="EE801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TR"/>
          </a:p>
        </p:txBody>
      </p:sp>
      <p:sp>
        <p:nvSpPr>
          <p:cNvPr id="5" name="AutoShape 5"/>
          <p:cNvSpPr/>
          <p:nvPr/>
        </p:nvSpPr>
        <p:spPr>
          <a:xfrm>
            <a:off x="20" y="1244509"/>
            <a:ext cx="18326100" cy="38100"/>
          </a:xfrm>
          <a:prstGeom prst="line">
            <a:avLst/>
          </a:prstGeom>
          <a:ln w="19050" cap="rnd">
            <a:solidFill>
              <a:srgbClr val="C1203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TR"/>
          </a:p>
        </p:txBody>
      </p:sp>
      <p:grpSp>
        <p:nvGrpSpPr>
          <p:cNvPr id="6" name="Group 6"/>
          <p:cNvGrpSpPr/>
          <p:nvPr/>
        </p:nvGrpSpPr>
        <p:grpSpPr>
          <a:xfrm>
            <a:off x="393695" y="65415"/>
            <a:ext cx="14632946" cy="1140995"/>
            <a:chOff x="0" y="0"/>
            <a:chExt cx="19510594" cy="152132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9510594" cy="1521326"/>
            </a:xfrm>
            <a:custGeom>
              <a:avLst/>
              <a:gdLst/>
              <a:ahLst/>
              <a:cxnLst/>
              <a:rect l="l" t="t" r="r" b="b"/>
              <a:pathLst>
                <a:path w="19510594" h="1521326">
                  <a:moveTo>
                    <a:pt x="0" y="0"/>
                  </a:moveTo>
                  <a:lnTo>
                    <a:pt x="19510594" y="0"/>
                  </a:lnTo>
                  <a:lnTo>
                    <a:pt x="19510594" y="1521326"/>
                  </a:lnTo>
                  <a:lnTo>
                    <a:pt x="0" y="152132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TR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28575"/>
              <a:ext cx="19510594" cy="154990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808"/>
                </a:lnSpc>
              </a:pPr>
              <a:r>
                <a:rPr lang="en-US" sz="4840" b="1">
                  <a:solidFill>
                    <a:srgbClr val="1A3576"/>
                  </a:solidFill>
                  <a:latin typeface="Arial Bold"/>
                  <a:ea typeface="Arial Bold"/>
                  <a:cs typeface="Arial Bold"/>
                  <a:sym typeface="Arial Bold"/>
                </a:rPr>
                <a:t>Uncertainty Estimation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4911228" y="9736138"/>
            <a:ext cx="1585812" cy="547688"/>
            <a:chOff x="0" y="0"/>
            <a:chExt cx="2114416" cy="73025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114416" cy="730250"/>
            </a:xfrm>
            <a:custGeom>
              <a:avLst/>
              <a:gdLst/>
              <a:ahLst/>
              <a:cxnLst/>
              <a:rect l="l" t="t" r="r" b="b"/>
              <a:pathLst>
                <a:path w="2114416" h="730250">
                  <a:moveTo>
                    <a:pt x="0" y="0"/>
                  </a:moveTo>
                  <a:lnTo>
                    <a:pt x="2114416" y="0"/>
                  </a:lnTo>
                  <a:lnTo>
                    <a:pt x="2114416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TR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19050"/>
              <a:ext cx="2114416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898989"/>
                  </a:solidFill>
                  <a:latin typeface="Arial"/>
                  <a:ea typeface="Arial"/>
                  <a:cs typeface="Arial"/>
                  <a:sym typeface="Arial"/>
                </a:rPr>
                <a:t>14.10.2025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2514600" y="9736138"/>
            <a:ext cx="11988799" cy="547688"/>
            <a:chOff x="0" y="0"/>
            <a:chExt cx="15985066" cy="73025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5985066" cy="730250"/>
            </a:xfrm>
            <a:custGeom>
              <a:avLst/>
              <a:gdLst/>
              <a:ahLst/>
              <a:cxnLst/>
              <a:rect l="l" t="t" r="r" b="b"/>
              <a:pathLst>
                <a:path w="15985066" h="730250">
                  <a:moveTo>
                    <a:pt x="0" y="0"/>
                  </a:moveTo>
                  <a:lnTo>
                    <a:pt x="15985066" y="0"/>
                  </a:lnTo>
                  <a:lnTo>
                    <a:pt x="15985066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TR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19050"/>
              <a:ext cx="15985066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898989"/>
                  </a:solidFill>
                  <a:latin typeface="Arial"/>
                  <a:ea typeface="Arial"/>
                  <a:cs typeface="Arial"/>
                  <a:sym typeface="Arial"/>
                </a:rPr>
                <a:t>CSE496 – First Presentation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6497042" y="9736138"/>
            <a:ext cx="1388533" cy="547688"/>
            <a:chOff x="0" y="0"/>
            <a:chExt cx="1851378" cy="73025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851378" cy="730250"/>
            </a:xfrm>
            <a:custGeom>
              <a:avLst/>
              <a:gdLst/>
              <a:ahLst/>
              <a:cxnLst/>
              <a:rect l="l" t="t" r="r" b="b"/>
              <a:pathLst>
                <a:path w="1851378" h="730250">
                  <a:moveTo>
                    <a:pt x="0" y="0"/>
                  </a:moveTo>
                  <a:lnTo>
                    <a:pt x="1851378" y="0"/>
                  </a:lnTo>
                  <a:lnTo>
                    <a:pt x="1851378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TR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19050"/>
              <a:ext cx="1851378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898989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</a:p>
          </p:txBody>
        </p:sp>
      </p:grpSp>
      <p:sp>
        <p:nvSpPr>
          <p:cNvPr id="18" name="Freeform 18"/>
          <p:cNvSpPr/>
          <p:nvPr/>
        </p:nvSpPr>
        <p:spPr>
          <a:xfrm>
            <a:off x="16692156" y="-246485"/>
            <a:ext cx="1633964" cy="1633964"/>
          </a:xfrm>
          <a:custGeom>
            <a:avLst/>
            <a:gdLst/>
            <a:ahLst/>
            <a:cxnLst/>
            <a:rect l="l" t="t" r="r" b="b"/>
            <a:pathLst>
              <a:path w="1633964" h="1633964">
                <a:moveTo>
                  <a:pt x="0" y="0"/>
                </a:moveTo>
                <a:lnTo>
                  <a:pt x="1633964" y="0"/>
                </a:lnTo>
                <a:lnTo>
                  <a:pt x="1633964" y="1633964"/>
                </a:lnTo>
                <a:lnTo>
                  <a:pt x="0" y="163396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TR"/>
          </a:p>
        </p:txBody>
      </p:sp>
      <p:sp>
        <p:nvSpPr>
          <p:cNvPr id="19" name="Freeform 19"/>
          <p:cNvSpPr/>
          <p:nvPr/>
        </p:nvSpPr>
        <p:spPr>
          <a:xfrm>
            <a:off x="9491215" y="2518352"/>
            <a:ext cx="8017923" cy="6681602"/>
          </a:xfrm>
          <a:custGeom>
            <a:avLst/>
            <a:gdLst/>
            <a:ahLst/>
            <a:cxnLst/>
            <a:rect l="l" t="t" r="r" b="b"/>
            <a:pathLst>
              <a:path w="8017923" h="6681602">
                <a:moveTo>
                  <a:pt x="0" y="0"/>
                </a:moveTo>
                <a:lnTo>
                  <a:pt x="8017923" y="0"/>
                </a:lnTo>
                <a:lnTo>
                  <a:pt x="8017923" y="6681603"/>
                </a:lnTo>
                <a:lnTo>
                  <a:pt x="0" y="668160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TR"/>
          </a:p>
        </p:txBody>
      </p:sp>
      <p:sp>
        <p:nvSpPr>
          <p:cNvPr id="20" name="Freeform 20"/>
          <p:cNvSpPr/>
          <p:nvPr/>
        </p:nvSpPr>
        <p:spPr>
          <a:xfrm>
            <a:off x="991366" y="2518352"/>
            <a:ext cx="7517634" cy="6739948"/>
          </a:xfrm>
          <a:custGeom>
            <a:avLst/>
            <a:gdLst/>
            <a:ahLst/>
            <a:cxnLst/>
            <a:rect l="l" t="t" r="r" b="b"/>
            <a:pathLst>
              <a:path w="7517634" h="6739948">
                <a:moveTo>
                  <a:pt x="0" y="0"/>
                </a:moveTo>
                <a:lnTo>
                  <a:pt x="7517634" y="0"/>
                </a:lnTo>
                <a:lnTo>
                  <a:pt x="7517634" y="6739948"/>
                </a:lnTo>
                <a:lnTo>
                  <a:pt x="0" y="673994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93694" y="9877110"/>
            <a:ext cx="2232666" cy="3431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000090"/>
                </a:solidFill>
                <a:latin typeface="Arial"/>
                <a:ea typeface="Arial"/>
                <a:cs typeface="Arial"/>
                <a:sym typeface="Arial"/>
              </a:rPr>
              <a:t>www.gtu.edu.tr</a:t>
            </a:r>
          </a:p>
        </p:txBody>
      </p:sp>
      <p:sp>
        <p:nvSpPr>
          <p:cNvPr id="3" name="AutoShape 3"/>
          <p:cNvSpPr/>
          <p:nvPr/>
        </p:nvSpPr>
        <p:spPr>
          <a:xfrm>
            <a:off x="20" y="1054020"/>
            <a:ext cx="18326100" cy="38100"/>
          </a:xfrm>
          <a:prstGeom prst="line">
            <a:avLst/>
          </a:prstGeom>
          <a:ln w="19050" cap="rnd">
            <a:solidFill>
              <a:srgbClr val="1A2A6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TR"/>
          </a:p>
        </p:txBody>
      </p:sp>
      <p:sp>
        <p:nvSpPr>
          <p:cNvPr id="4" name="AutoShape 4"/>
          <p:cNvSpPr/>
          <p:nvPr/>
        </p:nvSpPr>
        <p:spPr>
          <a:xfrm>
            <a:off x="20" y="1142914"/>
            <a:ext cx="18326100" cy="38100"/>
          </a:xfrm>
          <a:prstGeom prst="line">
            <a:avLst/>
          </a:prstGeom>
          <a:ln w="19050" cap="rnd">
            <a:solidFill>
              <a:srgbClr val="EE801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TR"/>
          </a:p>
        </p:txBody>
      </p:sp>
      <p:sp>
        <p:nvSpPr>
          <p:cNvPr id="5" name="AutoShape 5"/>
          <p:cNvSpPr/>
          <p:nvPr/>
        </p:nvSpPr>
        <p:spPr>
          <a:xfrm>
            <a:off x="20" y="1244509"/>
            <a:ext cx="18326100" cy="38100"/>
          </a:xfrm>
          <a:prstGeom prst="line">
            <a:avLst/>
          </a:prstGeom>
          <a:ln w="19050" cap="rnd">
            <a:solidFill>
              <a:srgbClr val="C1203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TR"/>
          </a:p>
        </p:txBody>
      </p:sp>
      <p:grpSp>
        <p:nvGrpSpPr>
          <p:cNvPr id="6" name="Group 6"/>
          <p:cNvGrpSpPr/>
          <p:nvPr/>
        </p:nvGrpSpPr>
        <p:grpSpPr>
          <a:xfrm>
            <a:off x="393695" y="65415"/>
            <a:ext cx="14632946" cy="1140995"/>
            <a:chOff x="0" y="0"/>
            <a:chExt cx="19510594" cy="152132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9510594" cy="1521326"/>
            </a:xfrm>
            <a:custGeom>
              <a:avLst/>
              <a:gdLst/>
              <a:ahLst/>
              <a:cxnLst/>
              <a:rect l="l" t="t" r="r" b="b"/>
              <a:pathLst>
                <a:path w="19510594" h="1521326">
                  <a:moveTo>
                    <a:pt x="0" y="0"/>
                  </a:moveTo>
                  <a:lnTo>
                    <a:pt x="19510594" y="0"/>
                  </a:lnTo>
                  <a:lnTo>
                    <a:pt x="19510594" y="1521326"/>
                  </a:lnTo>
                  <a:lnTo>
                    <a:pt x="0" y="152132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TR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28575"/>
              <a:ext cx="19510594" cy="154990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808"/>
                </a:lnSpc>
              </a:pPr>
              <a:r>
                <a:rPr lang="en-US" sz="4840" b="1">
                  <a:solidFill>
                    <a:srgbClr val="1A3576"/>
                  </a:solidFill>
                  <a:latin typeface="Arial Bold"/>
                  <a:ea typeface="Arial Bold"/>
                  <a:cs typeface="Arial Bold"/>
                  <a:sym typeface="Arial Bold"/>
                </a:rPr>
                <a:t>Final Model Selection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4911228" y="9736138"/>
            <a:ext cx="1585812" cy="547688"/>
            <a:chOff x="0" y="0"/>
            <a:chExt cx="2114416" cy="73025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114416" cy="730250"/>
            </a:xfrm>
            <a:custGeom>
              <a:avLst/>
              <a:gdLst/>
              <a:ahLst/>
              <a:cxnLst/>
              <a:rect l="l" t="t" r="r" b="b"/>
              <a:pathLst>
                <a:path w="2114416" h="730250">
                  <a:moveTo>
                    <a:pt x="0" y="0"/>
                  </a:moveTo>
                  <a:lnTo>
                    <a:pt x="2114416" y="0"/>
                  </a:lnTo>
                  <a:lnTo>
                    <a:pt x="2114416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TR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19050"/>
              <a:ext cx="2114416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898989"/>
                  </a:solidFill>
                  <a:latin typeface="Arial"/>
                  <a:ea typeface="Arial"/>
                  <a:cs typeface="Arial"/>
                  <a:sym typeface="Arial"/>
                </a:rPr>
                <a:t>14.10.2025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2514600" y="9736138"/>
            <a:ext cx="11988799" cy="547688"/>
            <a:chOff x="0" y="0"/>
            <a:chExt cx="15985066" cy="73025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5985066" cy="730250"/>
            </a:xfrm>
            <a:custGeom>
              <a:avLst/>
              <a:gdLst/>
              <a:ahLst/>
              <a:cxnLst/>
              <a:rect l="l" t="t" r="r" b="b"/>
              <a:pathLst>
                <a:path w="15985066" h="730250">
                  <a:moveTo>
                    <a:pt x="0" y="0"/>
                  </a:moveTo>
                  <a:lnTo>
                    <a:pt x="15985066" y="0"/>
                  </a:lnTo>
                  <a:lnTo>
                    <a:pt x="15985066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TR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19050"/>
              <a:ext cx="15985066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898989"/>
                  </a:solidFill>
                  <a:latin typeface="Arial"/>
                  <a:ea typeface="Arial"/>
                  <a:cs typeface="Arial"/>
                  <a:sym typeface="Arial"/>
                </a:rPr>
                <a:t>CSE496 – First Presentation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6497042" y="9736138"/>
            <a:ext cx="1388533" cy="547688"/>
            <a:chOff x="0" y="0"/>
            <a:chExt cx="1851378" cy="73025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851378" cy="730250"/>
            </a:xfrm>
            <a:custGeom>
              <a:avLst/>
              <a:gdLst/>
              <a:ahLst/>
              <a:cxnLst/>
              <a:rect l="l" t="t" r="r" b="b"/>
              <a:pathLst>
                <a:path w="1851378" h="730250">
                  <a:moveTo>
                    <a:pt x="0" y="0"/>
                  </a:moveTo>
                  <a:lnTo>
                    <a:pt x="1851378" y="0"/>
                  </a:lnTo>
                  <a:lnTo>
                    <a:pt x="1851378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TR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19050"/>
              <a:ext cx="1851378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898989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</a:p>
          </p:txBody>
        </p:sp>
      </p:grpSp>
      <p:sp>
        <p:nvSpPr>
          <p:cNvPr id="18" name="Freeform 18"/>
          <p:cNvSpPr/>
          <p:nvPr/>
        </p:nvSpPr>
        <p:spPr>
          <a:xfrm>
            <a:off x="16692156" y="-246485"/>
            <a:ext cx="1633964" cy="1633964"/>
          </a:xfrm>
          <a:custGeom>
            <a:avLst/>
            <a:gdLst/>
            <a:ahLst/>
            <a:cxnLst/>
            <a:rect l="l" t="t" r="r" b="b"/>
            <a:pathLst>
              <a:path w="1633964" h="1633964">
                <a:moveTo>
                  <a:pt x="0" y="0"/>
                </a:moveTo>
                <a:lnTo>
                  <a:pt x="1633964" y="0"/>
                </a:lnTo>
                <a:lnTo>
                  <a:pt x="1633964" y="1633964"/>
                </a:lnTo>
                <a:lnTo>
                  <a:pt x="0" y="163396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TR"/>
          </a:p>
        </p:txBody>
      </p:sp>
      <p:sp>
        <p:nvSpPr>
          <p:cNvPr id="19" name="Freeform 19"/>
          <p:cNvSpPr/>
          <p:nvPr/>
        </p:nvSpPr>
        <p:spPr>
          <a:xfrm>
            <a:off x="2289811" y="2064579"/>
            <a:ext cx="13708378" cy="4329563"/>
          </a:xfrm>
          <a:custGeom>
            <a:avLst/>
            <a:gdLst/>
            <a:ahLst/>
            <a:cxnLst/>
            <a:rect l="l" t="t" r="r" b="b"/>
            <a:pathLst>
              <a:path w="13708378" h="4329563">
                <a:moveTo>
                  <a:pt x="0" y="0"/>
                </a:moveTo>
                <a:lnTo>
                  <a:pt x="13708378" y="0"/>
                </a:lnTo>
                <a:lnTo>
                  <a:pt x="13708378" y="4329563"/>
                </a:lnTo>
                <a:lnTo>
                  <a:pt x="0" y="432956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TR"/>
          </a:p>
        </p:txBody>
      </p:sp>
      <p:sp>
        <p:nvSpPr>
          <p:cNvPr id="20" name="TextBox 20"/>
          <p:cNvSpPr txBox="1"/>
          <p:nvPr/>
        </p:nvSpPr>
        <p:spPr>
          <a:xfrm>
            <a:off x="5987650" y="6903090"/>
            <a:ext cx="6663074" cy="2305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CatBoost chosen for:</a:t>
            </a:r>
          </a:p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Best accuracy</a:t>
            </a:r>
          </a:p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Stable performance</a:t>
            </a:r>
          </a:p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Robust generalization</a:t>
            </a:r>
          </a:p>
          <a:p>
            <a:pPr algn="l">
              <a:lnSpc>
                <a:spcPts val="3600"/>
              </a:lnSpc>
            </a:pPr>
            <a:endParaRPr lang="en-US" sz="30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93694" y="9877110"/>
            <a:ext cx="2232666" cy="3431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000090"/>
                </a:solidFill>
                <a:latin typeface="Arial"/>
                <a:ea typeface="Arial"/>
                <a:cs typeface="Arial"/>
                <a:sym typeface="Arial"/>
              </a:rPr>
              <a:t>www.gtu.edu.tr</a:t>
            </a:r>
          </a:p>
        </p:txBody>
      </p:sp>
      <p:sp>
        <p:nvSpPr>
          <p:cNvPr id="3" name="AutoShape 3"/>
          <p:cNvSpPr/>
          <p:nvPr/>
        </p:nvSpPr>
        <p:spPr>
          <a:xfrm>
            <a:off x="20" y="1054020"/>
            <a:ext cx="18326100" cy="38100"/>
          </a:xfrm>
          <a:prstGeom prst="line">
            <a:avLst/>
          </a:prstGeom>
          <a:ln w="19050" cap="rnd">
            <a:solidFill>
              <a:srgbClr val="1A2A6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TR"/>
          </a:p>
        </p:txBody>
      </p:sp>
      <p:sp>
        <p:nvSpPr>
          <p:cNvPr id="4" name="AutoShape 4"/>
          <p:cNvSpPr/>
          <p:nvPr/>
        </p:nvSpPr>
        <p:spPr>
          <a:xfrm>
            <a:off x="20" y="1142914"/>
            <a:ext cx="18326100" cy="38100"/>
          </a:xfrm>
          <a:prstGeom prst="line">
            <a:avLst/>
          </a:prstGeom>
          <a:ln w="19050" cap="rnd">
            <a:solidFill>
              <a:srgbClr val="EE801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TR"/>
          </a:p>
        </p:txBody>
      </p:sp>
      <p:sp>
        <p:nvSpPr>
          <p:cNvPr id="5" name="AutoShape 5"/>
          <p:cNvSpPr/>
          <p:nvPr/>
        </p:nvSpPr>
        <p:spPr>
          <a:xfrm>
            <a:off x="20" y="1244509"/>
            <a:ext cx="18326100" cy="38100"/>
          </a:xfrm>
          <a:prstGeom prst="line">
            <a:avLst/>
          </a:prstGeom>
          <a:ln w="19050" cap="rnd">
            <a:solidFill>
              <a:srgbClr val="C1203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TR"/>
          </a:p>
        </p:txBody>
      </p:sp>
      <p:grpSp>
        <p:nvGrpSpPr>
          <p:cNvPr id="6" name="Group 6"/>
          <p:cNvGrpSpPr/>
          <p:nvPr/>
        </p:nvGrpSpPr>
        <p:grpSpPr>
          <a:xfrm>
            <a:off x="393695" y="65415"/>
            <a:ext cx="14632946" cy="1140995"/>
            <a:chOff x="0" y="0"/>
            <a:chExt cx="19510594" cy="152132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9510594" cy="1521326"/>
            </a:xfrm>
            <a:custGeom>
              <a:avLst/>
              <a:gdLst/>
              <a:ahLst/>
              <a:cxnLst/>
              <a:rect l="l" t="t" r="r" b="b"/>
              <a:pathLst>
                <a:path w="19510594" h="1521326">
                  <a:moveTo>
                    <a:pt x="0" y="0"/>
                  </a:moveTo>
                  <a:lnTo>
                    <a:pt x="19510594" y="0"/>
                  </a:lnTo>
                  <a:lnTo>
                    <a:pt x="19510594" y="1521326"/>
                  </a:lnTo>
                  <a:lnTo>
                    <a:pt x="0" y="152132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TR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28575"/>
              <a:ext cx="19510594" cy="154990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808"/>
                </a:lnSpc>
              </a:pPr>
              <a:r>
                <a:rPr lang="en-US" sz="4840" b="1">
                  <a:solidFill>
                    <a:srgbClr val="1A3576"/>
                  </a:solidFill>
                  <a:latin typeface="Arial Bold"/>
                  <a:ea typeface="Arial Bold"/>
                  <a:cs typeface="Arial Bold"/>
                  <a:sym typeface="Arial Bold"/>
                </a:rPr>
                <a:t>Limitations and Future Work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4911228" y="9736138"/>
            <a:ext cx="1585812" cy="547688"/>
            <a:chOff x="0" y="0"/>
            <a:chExt cx="2114416" cy="73025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114416" cy="730250"/>
            </a:xfrm>
            <a:custGeom>
              <a:avLst/>
              <a:gdLst/>
              <a:ahLst/>
              <a:cxnLst/>
              <a:rect l="l" t="t" r="r" b="b"/>
              <a:pathLst>
                <a:path w="2114416" h="730250">
                  <a:moveTo>
                    <a:pt x="0" y="0"/>
                  </a:moveTo>
                  <a:lnTo>
                    <a:pt x="2114416" y="0"/>
                  </a:lnTo>
                  <a:lnTo>
                    <a:pt x="2114416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TR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19050"/>
              <a:ext cx="2114416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898989"/>
                  </a:solidFill>
                  <a:latin typeface="Arial"/>
                  <a:ea typeface="Arial"/>
                  <a:cs typeface="Arial"/>
                  <a:sym typeface="Arial"/>
                </a:rPr>
                <a:t>14.10.2025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2514600" y="9736138"/>
            <a:ext cx="11988799" cy="547688"/>
            <a:chOff x="0" y="0"/>
            <a:chExt cx="15985066" cy="73025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5985066" cy="730250"/>
            </a:xfrm>
            <a:custGeom>
              <a:avLst/>
              <a:gdLst/>
              <a:ahLst/>
              <a:cxnLst/>
              <a:rect l="l" t="t" r="r" b="b"/>
              <a:pathLst>
                <a:path w="15985066" h="730250">
                  <a:moveTo>
                    <a:pt x="0" y="0"/>
                  </a:moveTo>
                  <a:lnTo>
                    <a:pt x="15985066" y="0"/>
                  </a:lnTo>
                  <a:lnTo>
                    <a:pt x="15985066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TR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19050"/>
              <a:ext cx="15985066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898989"/>
                  </a:solidFill>
                  <a:latin typeface="Arial"/>
                  <a:ea typeface="Arial"/>
                  <a:cs typeface="Arial"/>
                  <a:sym typeface="Arial"/>
                </a:rPr>
                <a:t>CSE496 – First Presentation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6497042" y="9736138"/>
            <a:ext cx="1388533" cy="547688"/>
            <a:chOff x="0" y="0"/>
            <a:chExt cx="1851378" cy="73025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851378" cy="730250"/>
            </a:xfrm>
            <a:custGeom>
              <a:avLst/>
              <a:gdLst/>
              <a:ahLst/>
              <a:cxnLst/>
              <a:rect l="l" t="t" r="r" b="b"/>
              <a:pathLst>
                <a:path w="1851378" h="730250">
                  <a:moveTo>
                    <a:pt x="0" y="0"/>
                  </a:moveTo>
                  <a:lnTo>
                    <a:pt x="1851378" y="0"/>
                  </a:lnTo>
                  <a:lnTo>
                    <a:pt x="1851378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TR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19050"/>
              <a:ext cx="1851378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898989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</a:p>
          </p:txBody>
        </p:sp>
      </p:grpSp>
      <p:sp>
        <p:nvSpPr>
          <p:cNvPr id="18" name="Freeform 18"/>
          <p:cNvSpPr/>
          <p:nvPr/>
        </p:nvSpPr>
        <p:spPr>
          <a:xfrm>
            <a:off x="16692156" y="-246485"/>
            <a:ext cx="1633964" cy="1633964"/>
          </a:xfrm>
          <a:custGeom>
            <a:avLst/>
            <a:gdLst/>
            <a:ahLst/>
            <a:cxnLst/>
            <a:rect l="l" t="t" r="r" b="b"/>
            <a:pathLst>
              <a:path w="1633964" h="1633964">
                <a:moveTo>
                  <a:pt x="0" y="0"/>
                </a:moveTo>
                <a:lnTo>
                  <a:pt x="1633964" y="0"/>
                </a:lnTo>
                <a:lnTo>
                  <a:pt x="1633964" y="1633964"/>
                </a:lnTo>
                <a:lnTo>
                  <a:pt x="0" y="163396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TR"/>
          </a:p>
        </p:txBody>
      </p:sp>
      <p:sp>
        <p:nvSpPr>
          <p:cNvPr id="19" name="Freeform 19"/>
          <p:cNvSpPr/>
          <p:nvPr/>
        </p:nvSpPr>
        <p:spPr>
          <a:xfrm>
            <a:off x="693228" y="3238104"/>
            <a:ext cx="9038040" cy="5018094"/>
          </a:xfrm>
          <a:custGeom>
            <a:avLst/>
            <a:gdLst/>
            <a:ahLst/>
            <a:cxnLst/>
            <a:rect l="l" t="t" r="r" b="b"/>
            <a:pathLst>
              <a:path w="9038040" h="5018094">
                <a:moveTo>
                  <a:pt x="0" y="0"/>
                </a:moveTo>
                <a:lnTo>
                  <a:pt x="9038039" y="0"/>
                </a:lnTo>
                <a:lnTo>
                  <a:pt x="9038039" y="5018094"/>
                </a:lnTo>
                <a:lnTo>
                  <a:pt x="0" y="50180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29875" b="-18532"/>
            </a:stretch>
          </a:blipFill>
        </p:spPr>
        <p:txBody>
          <a:bodyPr/>
          <a:lstStyle/>
          <a:p>
            <a:endParaRPr lang="en-TR"/>
          </a:p>
        </p:txBody>
      </p:sp>
      <p:sp>
        <p:nvSpPr>
          <p:cNvPr id="20" name="TextBox 20"/>
          <p:cNvSpPr txBox="1"/>
          <p:nvPr/>
        </p:nvSpPr>
        <p:spPr>
          <a:xfrm>
            <a:off x="10097338" y="2304654"/>
            <a:ext cx="6663074" cy="1847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Limitations:</a:t>
            </a:r>
          </a:p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Single Dataset</a:t>
            </a:r>
          </a:p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Fixed chemistry and lab conditions</a:t>
            </a:r>
          </a:p>
          <a:p>
            <a:pPr algn="l">
              <a:lnSpc>
                <a:spcPts val="3600"/>
              </a:lnSpc>
            </a:pPr>
            <a:endParaRPr lang="en-US" sz="30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10097338" y="4569250"/>
            <a:ext cx="6663074" cy="4133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Future Work:</a:t>
            </a:r>
          </a:p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Larger and more diverse datasets</a:t>
            </a:r>
          </a:p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Online / incremental learning</a:t>
            </a:r>
          </a:p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Improved uncertainty modeling</a:t>
            </a:r>
          </a:p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Expand features</a:t>
            </a:r>
          </a:p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Integration into battery management systems</a:t>
            </a:r>
          </a:p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Hybrid physics-informed ML models</a:t>
            </a:r>
          </a:p>
          <a:p>
            <a:pPr algn="l">
              <a:lnSpc>
                <a:spcPts val="3600"/>
              </a:lnSpc>
            </a:pPr>
            <a:endParaRPr lang="en-US" sz="30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93694" y="9877110"/>
            <a:ext cx="2232666" cy="3431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000090"/>
                </a:solidFill>
                <a:latin typeface="Arial"/>
                <a:ea typeface="Arial"/>
                <a:cs typeface="Arial"/>
                <a:sym typeface="Arial"/>
              </a:rPr>
              <a:t>www.gtu.edu.tr</a:t>
            </a:r>
          </a:p>
        </p:txBody>
      </p:sp>
      <p:sp>
        <p:nvSpPr>
          <p:cNvPr id="3" name="AutoShape 3"/>
          <p:cNvSpPr/>
          <p:nvPr/>
        </p:nvSpPr>
        <p:spPr>
          <a:xfrm>
            <a:off x="20" y="1054020"/>
            <a:ext cx="18326100" cy="38100"/>
          </a:xfrm>
          <a:prstGeom prst="line">
            <a:avLst/>
          </a:prstGeom>
          <a:ln w="19050" cap="rnd">
            <a:solidFill>
              <a:srgbClr val="1A2A6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TR"/>
          </a:p>
        </p:txBody>
      </p:sp>
      <p:sp>
        <p:nvSpPr>
          <p:cNvPr id="4" name="AutoShape 4"/>
          <p:cNvSpPr/>
          <p:nvPr/>
        </p:nvSpPr>
        <p:spPr>
          <a:xfrm>
            <a:off x="20" y="1142914"/>
            <a:ext cx="18326100" cy="38100"/>
          </a:xfrm>
          <a:prstGeom prst="line">
            <a:avLst/>
          </a:prstGeom>
          <a:ln w="19050" cap="rnd">
            <a:solidFill>
              <a:srgbClr val="EE801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TR"/>
          </a:p>
        </p:txBody>
      </p:sp>
      <p:sp>
        <p:nvSpPr>
          <p:cNvPr id="5" name="AutoShape 5"/>
          <p:cNvSpPr/>
          <p:nvPr/>
        </p:nvSpPr>
        <p:spPr>
          <a:xfrm>
            <a:off x="20" y="1244509"/>
            <a:ext cx="18326100" cy="38100"/>
          </a:xfrm>
          <a:prstGeom prst="line">
            <a:avLst/>
          </a:prstGeom>
          <a:ln w="19050" cap="rnd">
            <a:solidFill>
              <a:srgbClr val="C1203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TR"/>
          </a:p>
        </p:txBody>
      </p:sp>
      <p:grpSp>
        <p:nvGrpSpPr>
          <p:cNvPr id="6" name="Group 6"/>
          <p:cNvGrpSpPr/>
          <p:nvPr/>
        </p:nvGrpSpPr>
        <p:grpSpPr>
          <a:xfrm>
            <a:off x="393695" y="65415"/>
            <a:ext cx="14632946" cy="1140995"/>
            <a:chOff x="0" y="0"/>
            <a:chExt cx="19510594" cy="152132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9510594" cy="1521326"/>
            </a:xfrm>
            <a:custGeom>
              <a:avLst/>
              <a:gdLst/>
              <a:ahLst/>
              <a:cxnLst/>
              <a:rect l="l" t="t" r="r" b="b"/>
              <a:pathLst>
                <a:path w="19510594" h="1521326">
                  <a:moveTo>
                    <a:pt x="0" y="0"/>
                  </a:moveTo>
                  <a:lnTo>
                    <a:pt x="19510594" y="0"/>
                  </a:lnTo>
                  <a:lnTo>
                    <a:pt x="19510594" y="1521326"/>
                  </a:lnTo>
                  <a:lnTo>
                    <a:pt x="0" y="152132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TR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28575"/>
              <a:ext cx="19510594" cy="154990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808"/>
                </a:lnSpc>
              </a:pPr>
              <a:r>
                <a:rPr lang="en-US" sz="4840" b="1">
                  <a:solidFill>
                    <a:srgbClr val="1A3576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Conclusion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4911228" y="9736138"/>
            <a:ext cx="1585812" cy="547688"/>
            <a:chOff x="0" y="0"/>
            <a:chExt cx="2114416" cy="73025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114416" cy="730250"/>
            </a:xfrm>
            <a:custGeom>
              <a:avLst/>
              <a:gdLst/>
              <a:ahLst/>
              <a:cxnLst/>
              <a:rect l="l" t="t" r="r" b="b"/>
              <a:pathLst>
                <a:path w="2114416" h="730250">
                  <a:moveTo>
                    <a:pt x="0" y="0"/>
                  </a:moveTo>
                  <a:lnTo>
                    <a:pt x="2114416" y="0"/>
                  </a:lnTo>
                  <a:lnTo>
                    <a:pt x="2114416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TR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19050"/>
              <a:ext cx="2114416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898989"/>
                  </a:solidFill>
                  <a:latin typeface="Arial"/>
                  <a:ea typeface="Arial"/>
                  <a:cs typeface="Arial"/>
                  <a:sym typeface="Arial"/>
                </a:rPr>
                <a:t>14.10.2025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2514600" y="9736138"/>
            <a:ext cx="11988799" cy="547688"/>
            <a:chOff x="0" y="0"/>
            <a:chExt cx="15985066" cy="73025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5985066" cy="730250"/>
            </a:xfrm>
            <a:custGeom>
              <a:avLst/>
              <a:gdLst/>
              <a:ahLst/>
              <a:cxnLst/>
              <a:rect l="l" t="t" r="r" b="b"/>
              <a:pathLst>
                <a:path w="15985066" h="730250">
                  <a:moveTo>
                    <a:pt x="0" y="0"/>
                  </a:moveTo>
                  <a:lnTo>
                    <a:pt x="15985066" y="0"/>
                  </a:lnTo>
                  <a:lnTo>
                    <a:pt x="15985066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TR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19050"/>
              <a:ext cx="15985066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898989"/>
                  </a:solidFill>
                  <a:latin typeface="Arial"/>
                  <a:ea typeface="Arial"/>
                  <a:cs typeface="Arial"/>
                  <a:sym typeface="Arial"/>
                </a:rPr>
                <a:t>CSE496 – First Presentation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6497042" y="9736138"/>
            <a:ext cx="1388533" cy="547688"/>
            <a:chOff x="0" y="0"/>
            <a:chExt cx="1851378" cy="73025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851378" cy="730250"/>
            </a:xfrm>
            <a:custGeom>
              <a:avLst/>
              <a:gdLst/>
              <a:ahLst/>
              <a:cxnLst/>
              <a:rect l="l" t="t" r="r" b="b"/>
              <a:pathLst>
                <a:path w="1851378" h="730250">
                  <a:moveTo>
                    <a:pt x="0" y="0"/>
                  </a:moveTo>
                  <a:lnTo>
                    <a:pt x="1851378" y="0"/>
                  </a:lnTo>
                  <a:lnTo>
                    <a:pt x="1851378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TR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19050"/>
              <a:ext cx="1851378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898989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</a:p>
          </p:txBody>
        </p:sp>
      </p:grpSp>
      <p:sp>
        <p:nvSpPr>
          <p:cNvPr id="18" name="Freeform 18"/>
          <p:cNvSpPr/>
          <p:nvPr/>
        </p:nvSpPr>
        <p:spPr>
          <a:xfrm>
            <a:off x="16692156" y="-246485"/>
            <a:ext cx="1633964" cy="1633964"/>
          </a:xfrm>
          <a:custGeom>
            <a:avLst/>
            <a:gdLst/>
            <a:ahLst/>
            <a:cxnLst/>
            <a:rect l="l" t="t" r="r" b="b"/>
            <a:pathLst>
              <a:path w="1633964" h="1633964">
                <a:moveTo>
                  <a:pt x="0" y="0"/>
                </a:moveTo>
                <a:lnTo>
                  <a:pt x="1633964" y="0"/>
                </a:lnTo>
                <a:lnTo>
                  <a:pt x="1633964" y="1633964"/>
                </a:lnTo>
                <a:lnTo>
                  <a:pt x="0" y="163396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TR"/>
          </a:p>
        </p:txBody>
      </p:sp>
      <p:sp>
        <p:nvSpPr>
          <p:cNvPr id="19" name="TextBox 19"/>
          <p:cNvSpPr txBox="1"/>
          <p:nvPr/>
        </p:nvSpPr>
        <p:spPr>
          <a:xfrm>
            <a:off x="5047834" y="2251824"/>
            <a:ext cx="8192332" cy="6419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2" lvl="1" indent="-323851" algn="ctr">
              <a:lnSpc>
                <a:spcPts val="3600"/>
              </a:lnSpc>
              <a:buAutoNum type="arabicPeriod"/>
            </a:pPr>
            <a:r>
              <a:rPr lang="en-US" sz="3000" b="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Cell-aware learning works:</a:t>
            </a:r>
            <a:r>
              <a:rPr lang="en-US" sz="3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Grouped CV and CatBoost-based modeling accurately predict unseen battery cells, cutting MAE roughly in half versus naïve baselines.</a:t>
            </a:r>
          </a:p>
          <a:p>
            <a:pPr algn="ctr">
              <a:lnSpc>
                <a:spcPts val="3600"/>
              </a:lnSpc>
            </a:pPr>
            <a:endParaRPr lang="en-US" sz="30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647702" lvl="1" indent="-323851" algn="ctr">
              <a:lnSpc>
                <a:spcPts val="3600"/>
              </a:lnSpc>
              <a:buAutoNum type="arabicPeriod"/>
            </a:pPr>
            <a:r>
              <a:rPr lang="en-US" sz="3000" b="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Early-cycle signals matter:</a:t>
            </a:r>
            <a:r>
              <a:rPr lang="en-US" sz="3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The engineered eight-feature set plus dQ/dV insights consistently improves accuracy as the cycle window grows (25→100 cycles).</a:t>
            </a:r>
          </a:p>
          <a:p>
            <a:pPr algn="ctr">
              <a:lnSpc>
                <a:spcPts val="3600"/>
              </a:lnSpc>
            </a:pPr>
            <a:endParaRPr lang="en-US" sz="30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647702" lvl="1" indent="-323851" algn="ctr">
              <a:lnSpc>
                <a:spcPts val="3600"/>
              </a:lnSpc>
              <a:buAutoNum type="arabicPeriod"/>
            </a:pPr>
            <a:r>
              <a:rPr lang="en-US" sz="3000" b="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Robust evaluation is essential: </a:t>
            </a:r>
            <a:r>
              <a:rPr lang="en-US" sz="3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Random splits were overly optimistic; more realistic within-dataset generalization.</a:t>
            </a:r>
          </a:p>
          <a:p>
            <a:pPr algn="l">
              <a:lnSpc>
                <a:spcPts val="3600"/>
              </a:lnSpc>
            </a:pPr>
            <a:endParaRPr lang="en-US" sz="30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93694" y="9877110"/>
            <a:ext cx="2232666" cy="3431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000090"/>
                </a:solidFill>
                <a:latin typeface="Arial"/>
                <a:ea typeface="Arial"/>
                <a:cs typeface="Arial"/>
                <a:sym typeface="Arial"/>
              </a:rPr>
              <a:t>www.gtu.edu.tr</a:t>
            </a:r>
          </a:p>
        </p:txBody>
      </p:sp>
      <p:sp>
        <p:nvSpPr>
          <p:cNvPr id="3" name="AutoShape 3"/>
          <p:cNvSpPr/>
          <p:nvPr/>
        </p:nvSpPr>
        <p:spPr>
          <a:xfrm rot="7147">
            <a:off x="-19070" y="1588669"/>
            <a:ext cx="18326140" cy="0"/>
          </a:xfrm>
          <a:prstGeom prst="line">
            <a:avLst/>
          </a:prstGeom>
          <a:ln w="19050" cap="rnd">
            <a:solidFill>
              <a:srgbClr val="1A2A6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TR"/>
          </a:p>
        </p:txBody>
      </p:sp>
      <p:sp>
        <p:nvSpPr>
          <p:cNvPr id="4" name="AutoShape 4"/>
          <p:cNvSpPr/>
          <p:nvPr/>
        </p:nvSpPr>
        <p:spPr>
          <a:xfrm rot="7147">
            <a:off x="-19070" y="1677564"/>
            <a:ext cx="18326140" cy="0"/>
          </a:xfrm>
          <a:prstGeom prst="line">
            <a:avLst/>
          </a:prstGeom>
          <a:ln w="19050" cap="rnd">
            <a:solidFill>
              <a:srgbClr val="EE801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TR"/>
          </a:p>
        </p:txBody>
      </p:sp>
      <p:sp>
        <p:nvSpPr>
          <p:cNvPr id="5" name="AutoShape 5"/>
          <p:cNvSpPr/>
          <p:nvPr/>
        </p:nvSpPr>
        <p:spPr>
          <a:xfrm rot="7147">
            <a:off x="-19070" y="1779159"/>
            <a:ext cx="18326140" cy="0"/>
          </a:xfrm>
          <a:prstGeom prst="line">
            <a:avLst/>
          </a:prstGeom>
          <a:ln w="19050" cap="rnd">
            <a:solidFill>
              <a:srgbClr val="C1203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TR"/>
          </a:p>
        </p:txBody>
      </p:sp>
      <p:grpSp>
        <p:nvGrpSpPr>
          <p:cNvPr id="6" name="Group 6"/>
          <p:cNvGrpSpPr/>
          <p:nvPr/>
        </p:nvGrpSpPr>
        <p:grpSpPr>
          <a:xfrm>
            <a:off x="429255" y="419101"/>
            <a:ext cx="14632946" cy="1230864"/>
            <a:chOff x="0" y="0"/>
            <a:chExt cx="19510594" cy="164115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9510594" cy="1641153"/>
            </a:xfrm>
            <a:custGeom>
              <a:avLst/>
              <a:gdLst/>
              <a:ahLst/>
              <a:cxnLst/>
              <a:rect l="l" t="t" r="r" b="b"/>
              <a:pathLst>
                <a:path w="19510594" h="1641153">
                  <a:moveTo>
                    <a:pt x="0" y="0"/>
                  </a:moveTo>
                  <a:lnTo>
                    <a:pt x="19510594" y="0"/>
                  </a:lnTo>
                  <a:lnTo>
                    <a:pt x="19510594" y="1641153"/>
                  </a:lnTo>
                  <a:lnTo>
                    <a:pt x="0" y="164115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TR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9510594" cy="167925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128"/>
                </a:lnSpc>
              </a:pPr>
              <a:r>
                <a:rPr lang="en-US" sz="5940" b="1">
                  <a:solidFill>
                    <a:srgbClr val="1A3576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References</a:t>
              </a: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507280" y="3134327"/>
            <a:ext cx="17273441" cy="4981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96798" lvl="1" indent="-298399" algn="l">
              <a:lnSpc>
                <a:spcPts val="3960"/>
              </a:lnSpc>
              <a:buAutoNum type="arabicPeriod"/>
            </a:pPr>
            <a:r>
              <a:rPr lang="en-US" sz="3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Battery health prediction using fusion-based feature selection and machine learning </a:t>
            </a:r>
            <a:r>
              <a:rPr lang="en-US" sz="3300" i="1">
                <a:solidFill>
                  <a:srgbClr val="000000"/>
                </a:solidFill>
                <a:latin typeface="Arial Italics"/>
                <a:ea typeface="Arial Italics"/>
                <a:cs typeface="Arial Italics"/>
                <a:sym typeface="Arial Italics"/>
              </a:rPr>
              <a:t>Xiaosong Hu, Senior Member, IEEE, Yunhong Che, Xianke Lin, Member, IEEE and Simona Onori, Senior Member, IEEE 2020</a:t>
            </a:r>
          </a:p>
          <a:p>
            <a:pPr marL="596798" lvl="1" indent="-298399" algn="l">
              <a:lnSpc>
                <a:spcPts val="3960"/>
              </a:lnSpc>
              <a:buAutoNum type="arabicPeriod"/>
            </a:pPr>
            <a:r>
              <a:rPr lang="en-US" sz="3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Nasa Open Data Portal </a:t>
            </a:r>
            <a:r>
              <a:rPr lang="en-US" sz="3300" i="1">
                <a:solidFill>
                  <a:srgbClr val="000000"/>
                </a:solidFill>
                <a:latin typeface="Arial Italics"/>
                <a:ea typeface="Arial Italics"/>
                <a:cs typeface="Arial Italics"/>
                <a:sym typeface="Arial Italics"/>
              </a:rPr>
              <a:t>Li-ion Battery Aging Datasets 2022</a:t>
            </a:r>
          </a:p>
          <a:p>
            <a:pPr marL="596798" lvl="1" indent="-298399" algn="l">
              <a:lnSpc>
                <a:spcPts val="3960"/>
              </a:lnSpc>
              <a:buAutoNum type="arabicPeriod"/>
            </a:pPr>
            <a:r>
              <a:rPr lang="en-US" sz="3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Data-driven capacity estimation of commercial lithium-ion batteries from voltage relaxation 2022</a:t>
            </a:r>
          </a:p>
          <a:p>
            <a:pPr marL="596798" lvl="1" indent="-298399" algn="l">
              <a:lnSpc>
                <a:spcPts val="3960"/>
              </a:lnSpc>
              <a:buAutoNum type="arabicPeriod"/>
            </a:pPr>
            <a:r>
              <a:rPr lang="en-US" sz="3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Data-driven prediction of battery cycle life before capacity degradation 2019 </a:t>
            </a:r>
          </a:p>
          <a:p>
            <a:pPr marL="597217" lvl="1" indent="-298609" algn="l">
              <a:lnSpc>
                <a:spcPts val="3960"/>
              </a:lnSpc>
              <a:buAutoNum type="arabicPeriod"/>
            </a:pPr>
            <a:r>
              <a:rPr lang="en-US" sz="3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Lisinger, B., Attia, P. M., Severson, K. A., Jiang, B., Yang, Z., Chen, M. H., Greenstein, J. L., Harris, S. J., Chueh, W. C., &amp; Braatz, R. D. (2019). Data-driven prediction of battery cycle life before capacity degradation. Nature Energy, 4, 383–391.  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4911228" y="9736138"/>
            <a:ext cx="1585812" cy="547688"/>
            <a:chOff x="0" y="0"/>
            <a:chExt cx="2114416" cy="73025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114416" cy="730250"/>
            </a:xfrm>
            <a:custGeom>
              <a:avLst/>
              <a:gdLst/>
              <a:ahLst/>
              <a:cxnLst/>
              <a:rect l="l" t="t" r="r" b="b"/>
              <a:pathLst>
                <a:path w="2114416" h="730250">
                  <a:moveTo>
                    <a:pt x="0" y="0"/>
                  </a:moveTo>
                  <a:lnTo>
                    <a:pt x="2114416" y="0"/>
                  </a:lnTo>
                  <a:lnTo>
                    <a:pt x="2114416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TR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19050"/>
              <a:ext cx="2114416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898989"/>
                  </a:solidFill>
                  <a:latin typeface="Arial"/>
                  <a:ea typeface="Arial"/>
                  <a:cs typeface="Arial"/>
                  <a:sym typeface="Arial"/>
                </a:rPr>
                <a:t>14.10.2025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2514600" y="9736138"/>
            <a:ext cx="11988799" cy="547688"/>
            <a:chOff x="0" y="0"/>
            <a:chExt cx="15985066" cy="73025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5985066" cy="730250"/>
            </a:xfrm>
            <a:custGeom>
              <a:avLst/>
              <a:gdLst/>
              <a:ahLst/>
              <a:cxnLst/>
              <a:rect l="l" t="t" r="r" b="b"/>
              <a:pathLst>
                <a:path w="15985066" h="730250">
                  <a:moveTo>
                    <a:pt x="0" y="0"/>
                  </a:moveTo>
                  <a:lnTo>
                    <a:pt x="15985066" y="0"/>
                  </a:lnTo>
                  <a:lnTo>
                    <a:pt x="15985066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TR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19050"/>
              <a:ext cx="15985066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898989"/>
                  </a:solidFill>
                  <a:latin typeface="Arial"/>
                  <a:ea typeface="Arial"/>
                  <a:cs typeface="Arial"/>
                  <a:sym typeface="Arial"/>
                </a:rPr>
                <a:t>CSE496 – First Presentation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6497042" y="9736138"/>
            <a:ext cx="1388533" cy="547688"/>
            <a:chOff x="0" y="0"/>
            <a:chExt cx="1851378" cy="73025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851378" cy="730250"/>
            </a:xfrm>
            <a:custGeom>
              <a:avLst/>
              <a:gdLst/>
              <a:ahLst/>
              <a:cxnLst/>
              <a:rect l="l" t="t" r="r" b="b"/>
              <a:pathLst>
                <a:path w="1851378" h="730250">
                  <a:moveTo>
                    <a:pt x="0" y="0"/>
                  </a:moveTo>
                  <a:lnTo>
                    <a:pt x="1851378" y="0"/>
                  </a:lnTo>
                  <a:lnTo>
                    <a:pt x="1851378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TR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19050"/>
              <a:ext cx="1851378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898989"/>
                  </a:solidFill>
                  <a:latin typeface="Arial"/>
                  <a:ea typeface="Arial"/>
                  <a:cs typeface="Arial"/>
                  <a:sym typeface="Arial"/>
                </a:rPr>
                <a:t>8</a:t>
              </a:r>
            </a:p>
          </p:txBody>
        </p:sp>
      </p:grpSp>
      <p:sp>
        <p:nvSpPr>
          <p:cNvPr id="19" name="Freeform 19"/>
          <p:cNvSpPr/>
          <p:nvPr/>
        </p:nvSpPr>
        <p:spPr>
          <a:xfrm>
            <a:off x="15713660" y="-423595"/>
            <a:ext cx="2583865" cy="2583865"/>
          </a:xfrm>
          <a:custGeom>
            <a:avLst/>
            <a:gdLst/>
            <a:ahLst/>
            <a:cxnLst/>
            <a:rect l="l" t="t" r="r" b="b"/>
            <a:pathLst>
              <a:path w="2583865" h="2583865">
                <a:moveTo>
                  <a:pt x="0" y="0"/>
                </a:moveTo>
                <a:lnTo>
                  <a:pt x="2583865" y="0"/>
                </a:lnTo>
                <a:lnTo>
                  <a:pt x="2583865" y="2583865"/>
                </a:lnTo>
                <a:lnTo>
                  <a:pt x="0" y="258386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T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93694" y="9877110"/>
            <a:ext cx="2232666" cy="3431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000090"/>
                </a:solidFill>
                <a:latin typeface="Arial"/>
                <a:ea typeface="Arial"/>
                <a:cs typeface="Arial"/>
                <a:sym typeface="Arial"/>
              </a:rPr>
              <a:t>www.gtu.edu.tr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4911228" y="9736138"/>
            <a:ext cx="1585812" cy="547688"/>
            <a:chOff x="0" y="0"/>
            <a:chExt cx="2114416" cy="73025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114416" cy="730250"/>
            </a:xfrm>
            <a:custGeom>
              <a:avLst/>
              <a:gdLst/>
              <a:ahLst/>
              <a:cxnLst/>
              <a:rect l="l" t="t" r="r" b="b"/>
              <a:pathLst>
                <a:path w="2114416" h="730250">
                  <a:moveTo>
                    <a:pt x="0" y="0"/>
                  </a:moveTo>
                  <a:lnTo>
                    <a:pt x="2114416" y="0"/>
                  </a:lnTo>
                  <a:lnTo>
                    <a:pt x="2114416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TR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19050"/>
              <a:ext cx="2114416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898989"/>
                  </a:solidFill>
                  <a:latin typeface="Arial"/>
                  <a:ea typeface="Arial"/>
                  <a:cs typeface="Arial"/>
                  <a:sym typeface="Arial"/>
                </a:rPr>
                <a:t>14.10.2025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2514600" y="9736138"/>
            <a:ext cx="11988799" cy="547688"/>
            <a:chOff x="0" y="0"/>
            <a:chExt cx="15985066" cy="73025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5985066" cy="730250"/>
            </a:xfrm>
            <a:custGeom>
              <a:avLst/>
              <a:gdLst/>
              <a:ahLst/>
              <a:cxnLst/>
              <a:rect l="l" t="t" r="r" b="b"/>
              <a:pathLst>
                <a:path w="15985066" h="730250">
                  <a:moveTo>
                    <a:pt x="0" y="0"/>
                  </a:moveTo>
                  <a:lnTo>
                    <a:pt x="15985066" y="0"/>
                  </a:lnTo>
                  <a:lnTo>
                    <a:pt x="15985066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TR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19050"/>
              <a:ext cx="15985066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898989"/>
                  </a:solidFill>
                  <a:latin typeface="Arial"/>
                  <a:ea typeface="Arial"/>
                  <a:cs typeface="Arial"/>
                  <a:sym typeface="Arial"/>
                </a:rPr>
                <a:t>CSE496 – First Presentation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6497042" y="9736138"/>
            <a:ext cx="1388533" cy="547688"/>
            <a:chOff x="0" y="0"/>
            <a:chExt cx="1851378" cy="73025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851378" cy="730250"/>
            </a:xfrm>
            <a:custGeom>
              <a:avLst/>
              <a:gdLst/>
              <a:ahLst/>
              <a:cxnLst/>
              <a:rect l="l" t="t" r="r" b="b"/>
              <a:pathLst>
                <a:path w="1851378" h="730250">
                  <a:moveTo>
                    <a:pt x="0" y="0"/>
                  </a:moveTo>
                  <a:lnTo>
                    <a:pt x="1851378" y="0"/>
                  </a:lnTo>
                  <a:lnTo>
                    <a:pt x="1851378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TR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19050"/>
              <a:ext cx="1851378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898989"/>
                  </a:solidFill>
                  <a:latin typeface="Arial"/>
                  <a:ea typeface="Arial"/>
                  <a:cs typeface="Arial"/>
                  <a:sym typeface="Arial"/>
                </a:rPr>
                <a:t>13</a:t>
              </a: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4915458" y="2917393"/>
            <a:ext cx="8457083" cy="3756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400"/>
              </a:lnSpc>
            </a:pPr>
            <a:r>
              <a:rPr lang="en-US" sz="14400">
                <a:solidFill>
                  <a:srgbClr val="1A3576"/>
                </a:solidFill>
                <a:latin typeface="Lato"/>
                <a:ea typeface="Lato"/>
                <a:cs typeface="Lato"/>
                <a:sym typeface="Lato"/>
              </a:rPr>
              <a:t>Thank You</a:t>
            </a:r>
          </a:p>
        </p:txBody>
      </p:sp>
      <p:sp>
        <p:nvSpPr>
          <p:cNvPr id="13" name="Freeform 13"/>
          <p:cNvSpPr/>
          <p:nvPr/>
        </p:nvSpPr>
        <p:spPr>
          <a:xfrm>
            <a:off x="393695" y="-263233"/>
            <a:ext cx="2583865" cy="2583865"/>
          </a:xfrm>
          <a:custGeom>
            <a:avLst/>
            <a:gdLst/>
            <a:ahLst/>
            <a:cxnLst/>
            <a:rect l="l" t="t" r="r" b="b"/>
            <a:pathLst>
              <a:path w="2583865" h="2583865">
                <a:moveTo>
                  <a:pt x="0" y="0"/>
                </a:moveTo>
                <a:lnTo>
                  <a:pt x="2583865" y="0"/>
                </a:lnTo>
                <a:lnTo>
                  <a:pt x="2583865" y="2583866"/>
                </a:lnTo>
                <a:lnTo>
                  <a:pt x="0" y="25838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TR"/>
          </a:p>
        </p:txBody>
      </p:sp>
      <p:sp>
        <p:nvSpPr>
          <p:cNvPr id="14" name="TextBox 14"/>
          <p:cNvSpPr txBox="1"/>
          <p:nvPr/>
        </p:nvSpPr>
        <p:spPr>
          <a:xfrm>
            <a:off x="1028700" y="8404839"/>
            <a:ext cx="8457083" cy="4070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799">
                <a:solidFill>
                  <a:srgbClr val="1A3576"/>
                </a:solidFill>
                <a:latin typeface="Lato"/>
                <a:ea typeface="Lato"/>
                <a:cs typeface="Lato"/>
                <a:sym typeface="Lato"/>
              </a:rPr>
              <a:t>Written by Dicle Çoban 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28700" y="8913495"/>
            <a:ext cx="8457083" cy="344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400">
                <a:solidFill>
                  <a:srgbClr val="1A3576"/>
                </a:solidFill>
                <a:latin typeface="Lato"/>
                <a:ea typeface="Lato"/>
                <a:cs typeface="Lato"/>
                <a:sym typeface="Lato"/>
              </a:rPr>
              <a:t>Student ID: 220104004088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485783" y="8580120"/>
            <a:ext cx="8457083" cy="10115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640"/>
              </a:lnSpc>
            </a:pPr>
            <a:r>
              <a:rPr lang="en-US" sz="2400">
                <a:solidFill>
                  <a:srgbClr val="1A3576"/>
                </a:solidFill>
                <a:latin typeface="Lato"/>
                <a:ea typeface="Lato"/>
                <a:cs typeface="Lato"/>
                <a:sym typeface="Lato"/>
              </a:rPr>
              <a:t>Supervisor: Asst. Prof. Salih SARP</a:t>
            </a:r>
          </a:p>
          <a:p>
            <a:pPr algn="r">
              <a:lnSpc>
                <a:spcPts val="2640"/>
              </a:lnSpc>
            </a:pPr>
            <a:r>
              <a:rPr lang="en-US" sz="2400">
                <a:solidFill>
                  <a:srgbClr val="1A3576"/>
                </a:solidFill>
                <a:latin typeface="Lato"/>
                <a:ea typeface="Lato"/>
                <a:cs typeface="Lato"/>
                <a:sym typeface="Lato"/>
              </a:rPr>
              <a:t>Asst. Prof. Osman Safa Çifçi</a:t>
            </a:r>
          </a:p>
          <a:p>
            <a:pPr algn="r">
              <a:lnSpc>
                <a:spcPts val="2640"/>
              </a:lnSpc>
            </a:pPr>
            <a:endParaRPr lang="en-US" sz="2400">
              <a:solidFill>
                <a:srgbClr val="1A3576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876</Words>
  <Application>Microsoft Macintosh PowerPoint</Application>
  <PresentationFormat>Custom</PresentationFormat>
  <Paragraphs>212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9" baseType="lpstr">
      <vt:lpstr>Lato Bold</vt:lpstr>
      <vt:lpstr>Arial Bold</vt:lpstr>
      <vt:lpstr>Arial Italics</vt:lpstr>
      <vt:lpstr>Roboto Bold</vt:lpstr>
      <vt:lpstr>Roboto</vt:lpstr>
      <vt:lpstr>Arial</vt:lpstr>
      <vt:lpstr>Calibri</vt:lpstr>
      <vt:lpstr>Lato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AI-Powered Battery System Performance Prediction kopyası</dc:title>
  <cp:lastModifiedBy>Dicle Coban</cp:lastModifiedBy>
  <cp:revision>93</cp:revision>
  <dcterms:created xsi:type="dcterms:W3CDTF">2006-08-16T00:00:00Z</dcterms:created>
  <dcterms:modified xsi:type="dcterms:W3CDTF">2026-03-07T15:33:12Z</dcterms:modified>
  <dc:identifier>DAG-NHx3HZU</dc:identifier>
</cp:coreProperties>
</file>