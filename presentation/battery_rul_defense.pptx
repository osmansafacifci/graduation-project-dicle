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</p:sldIdLst>
  <p:notesMasterIdLst>
    <p:notesMasterId r:id="rId2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notesMaster" Target="notesMasters/notesMaster1.xml"/><Relationship Id="rId29" Type="http://schemas.openxmlformats.org/officeDocument/2006/relationships/presProps" Target="presProps.xml"/><Relationship Id="rId30" Type="http://schemas.openxmlformats.org/officeDocument/2006/relationships/viewProps" Target="viewProps.xml"/><Relationship Id="rId31" Type="http://schemas.openxmlformats.org/officeDocument/2006/relationships/theme" Target="theme/theme1.xml"/><Relationship Id="rId3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Welcome. This work proposes a sistematic cross-dataset transfer protocol for early-cycle battery RUL prediction with valid uncertainty intervals.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Within-dataset accuracy is largely a solved problem. The frontier is cross-dataset reliability and uncertainty quantification for deployment. We span 4 public datasets and 12 transfer directions.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Two themes: within-dataset accuracy SOTA (left) and cross-dataset / UQ (right). None of them first diagnoses the type of shift, decides whether transfer can be repaired, and provides valid (coverage-guaranteed) prediction intervals — that is our gap.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 questions, five contributions. The regime taxonomy and valid CP intervals are the two paper-defining novelties.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Four public datasets, all using the same minimal feature contract (capacity-only). 362 modeled cells, ~19 censored cells handled in the survival audit.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Pipeline: audit → features → splits → models → diagnostics → calibration + CP. Same CV protocol on classical and CNN; cluster bootstrap; median R² for outlier-robust aggregation.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Within-dataset accuracy is reasonable for Sandia/Luh, capped by lifetime spread for HUST, and in the capacity-only literature ceiling for MATR. We do not chase deep-learning SOTA — we trade accuracy for valid CP.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Cross-dataset transfer fails on every direction, but the failure mode varies. Sandia↔Luh remain positive; MATR↔HUST collapse. This is the first sign of a regime structure.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Capacity normalization closes 71% of the geometric gap. The natural next step is to check whether prediction improves — it doesn't (next slide).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headline finding: closing the geometric shift does not fix prediction. This motivates the next layer of diagnostics.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Per-feature slope test removes the universal log-life offset and asks whether the within-dataset feature/y relationship changes between datasets.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regime taxonomy is the paper-defining table. Pearson r between source predictions and target ground truth is the deciding diagnostic.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Two pairwise scatter panels per direction × model. The take-away is that MATR↔HUST is rank-collapsed but with a large offset that a constant adapter can shrink.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falsifier. We rule out the obvious covariate-shift fix before introducing the target-adapter solution.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Calibration curve: R² climbs from catastrophic to ~0 across k = 5 → 20, with the linear adapter dominating in heterogeneous-target directions.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 CP modes compared. Target-adapted residual-mean is the deployment policy.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Regime-stratified CP table — paper-facing figure that joins the CP results with the conditional-shift regime labels.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Closing the loop: the within-domain importance of a feature is not the same as its cross-dataset reliability.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CNN serves as backbone-agnostic check. It confirms the regime taxonomy without changing the qualitative conclusion.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LODO source-expert is a practical multi-source deployment protocol. Improves over naive single-source for every held-out target.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Supplementary survival audit. Confirms that the lifetime gap between datasets is not driven by right-censoring of some MATR cells.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Dynamics-level evidence supporting the regime story. Sandia/Luh dynamics are coherent; MATR/HUST are not.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Honest limitations. The accuracy ceiling and rank-collapsed regimes are the two biggest constraints.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Four key findings; each tied to a specific table or figure in the paper.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Future work along five axes — feature contract, online calibration, fifth-dataset validation, physics-informed adapters, cross-protocol benchmarks.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floor. Repository and Zenodo deposit point.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1554480"/>
            <a:ext cx="73152" cy="2011680"/>
          </a:xfrm>
          <a:prstGeom prst="rect">
            <a:avLst/>
          </a:prstGeom>
          <a:solidFill>
            <a:srgbClr val="F5B700"/>
          </a:solidFill>
          <a:ln w="12700">
            <a:solidFill>
              <a:srgbClr val="F5B7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22960" y="1371600"/>
            <a:ext cx="7772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When Cross-Dataset Battery RUL Transfer Fails — and How to Repair It with Valid Uncertainty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822960" y="2743200"/>
            <a:ext cx="7772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capacity-only, four-dataset benchmark with rank-signal regime taxonomy and split conformal prediction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46634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Durukan Demir · Dicle Çoban · Salih Sarp · Osman Safa Çifçi   |  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2860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Motivation — why cross-dataset transfer matters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11480" y="777240"/>
            <a:ext cx="8412480" cy="0"/>
          </a:xfrm>
          <a:prstGeom prst="line">
            <a:avLst/>
          </a:prstGeom>
          <a:noFill/>
          <a:ln w="10160">
            <a:solidFill>
              <a:srgbClr val="D8DC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955280" y="489204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5C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26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914400"/>
            <a:ext cx="502920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Battery management systems are trained on lab data and deployed on field data with different chemistry, protocol, format.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Within-dataset accuracy is now a solved problem (Severson 2019, BatLiNet 2024).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 cross-dataset transfer is treated as a black-box engineering problem: train and pray.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Reviewers and practitioners ask: when will my pre-trained model work on a new dataset? How can I trust the answer?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need a diagnostic framework + a deployment protocol + valid uncertainty intervals.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669280" y="1097280"/>
            <a:ext cx="3108960" cy="3474720"/>
          </a:xfrm>
          <a:prstGeom prst="rect">
            <a:avLst/>
          </a:prstGeom>
          <a:solidFill>
            <a:srgbClr val="CADCFC">
              <a:alpha val="50000"/>
            </a:srgbClr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669280" y="1280160"/>
            <a:ext cx="3108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6400" dirty="0"/>
          </a:p>
        </p:txBody>
      </p:sp>
      <p:sp>
        <p:nvSpPr>
          <p:cNvPr id="9" name="Text 7"/>
          <p:cNvSpPr/>
          <p:nvPr/>
        </p:nvSpPr>
        <p:spPr>
          <a:xfrm>
            <a:off x="5669280" y="233172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A5C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datasets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669280" y="2743200"/>
            <a:ext cx="3108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</a:t>
            </a:r>
            <a:endParaRPr lang="en-US" sz="5200" dirty="0"/>
          </a:p>
        </p:txBody>
      </p:sp>
      <p:sp>
        <p:nvSpPr>
          <p:cNvPr id="11" name="Text 9"/>
          <p:cNvSpPr/>
          <p:nvPr/>
        </p:nvSpPr>
        <p:spPr>
          <a:xfrm>
            <a:off x="5669280" y="361188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A5C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transfer directions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669280" y="406908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deterministic regimes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2860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Brief literature snapshot — what others do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11480" y="777240"/>
            <a:ext cx="8412480" cy="0"/>
          </a:xfrm>
          <a:prstGeom prst="line">
            <a:avLst/>
          </a:prstGeom>
          <a:noFill/>
          <a:ln w="10160">
            <a:solidFill>
              <a:srgbClr val="D8DC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955280" y="489204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5C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26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96012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Within-dataset accuracy SOTA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1325880"/>
            <a:ext cx="4023360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Severson 2019 (Nature Energy) — voltage curves + elastic net; ~10% MAPE on MATR.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BatLiNet 2024 (Nat. MI) — joint training across 401 cells; 6% MAPE on MATR-1.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EES 2025 — surface temperature features; 12% MAPE on TRI.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DCIR 2024 — internal impedance pulses; 150-cycle MAE across manufacturers.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663440" y="96012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Cross-dataset / UQ approaches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663440" y="1325880"/>
            <a:ext cx="4023360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Domain-Adaptive Transformer 2025 — V/Q+fine-tune; RMSE 178 cycles.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HybridoNet-Adapt 2025 — MMD as training loss for UDA.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Geng et al. 2025 — LSTM+attention+SSA; UQ via 50-seed MC (no coverage guarantee).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 et al. 2025 — Deep Koopman with embedded operating conditions.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4023360"/>
            <a:ext cx="8229600" cy="7315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406908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B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 — 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one first diagnoses what kind of shift exists, decides whether transfer is salvageable, and provides valid prediction intervals for the deployment.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2860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Research questions and contributions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11480" y="777240"/>
            <a:ext cx="8412480" cy="0"/>
          </a:xfrm>
          <a:prstGeom prst="line">
            <a:avLst/>
          </a:prstGeom>
          <a:noFill/>
          <a:ln w="10160">
            <a:solidFill>
              <a:srgbClr val="D8DC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955280" y="489204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5C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26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research questions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1280160"/>
            <a:ext cx="82296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RQ1 — Can cross-dataset RUL transfer failure modes be predicted before training, from source/target diagnostics alone?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RQ2 — Does a small target labelled set (k=20 cells) repair the failure with valid uncertainty intervals?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RQ3 — Is the answer architecture-dependent, or does it survive a deep-learning backbone?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28346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Five contributions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40080" y="3200400"/>
            <a:ext cx="822960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Four-dataset benchmark (MATR / HUST / Sandia / Luh-KIT) under a capacity-only feature contract.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Covariate-vs-concept shift decomposition framework with falsifier (importance-weighted CP).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Rank-signal regime taxonomy of 12 transfer directions (strong-rank / offset-dominant / rank-collapsed).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k-shot target calibration protocol with MAPIE split conformal prediction (valid 90% / 95% coverage).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Backbone-agnostic validation via PyTorch 1D-CNN baseline.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2860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Datasets — four public archives under one feature contract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11480" y="777240"/>
            <a:ext cx="8412480" cy="0"/>
          </a:xfrm>
          <a:prstGeom prst="line">
            <a:avLst/>
          </a:prstGeom>
          <a:noFill/>
          <a:ln w="10160">
            <a:solidFill>
              <a:srgbClr val="D8DC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955280" y="489204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5C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26</a:t>
            </a:r>
            <a:endParaRPr lang="en-US" sz="9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960120"/>
          <a:ext cx="8229600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1645920"/>
                <a:gridCol w="2194560"/>
                <a:gridCol w="1463040"/>
                <a:gridCol w="1188720"/>
              </a:tblGrid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Dataset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Cells (modeled / censored)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Chemistry / format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Lifetime range (cycles)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Source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MATR (Severson/TRI)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129 / 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LFP 18650, fast-charge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133 – 2066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Nature Energy 2019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HUST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77 / 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LFP, multi-stage discharge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829 – 2024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EES 2022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Sandia 0-100 SOC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 / 11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NCA / NMC / LFP 18650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varies (mixed temp)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JES 2020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Luh / KIT RADAR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106 / 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NMC, standard cycling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Sandia/Luh narrow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KITopen 10.35097/1947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457200" y="3383280"/>
            <a:ext cx="822960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362 modeled cells total (19 censored at 0.85·Q0 EOL threshold; retained for survival audit).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Q0/EOL definition across datasets: Q0 = median(Q_dis at cycles 2–5); EOL when Q_dis ≤ 0.85·Q0.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Capacity-only feature contract — 34 features derived from Q_dis(c) trajectory only (no voltage, current, temperature).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Universal contract enables apples-to-apples transfer across batteries with different chemistries and protocols.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2860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Methodology — pipeline overview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11480" y="777240"/>
            <a:ext cx="8412480" cy="0"/>
          </a:xfrm>
          <a:prstGeom prst="line">
            <a:avLst/>
          </a:prstGeom>
          <a:noFill/>
          <a:ln w="10160">
            <a:solidFill>
              <a:srgbClr val="D8DC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955280" y="489204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5C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26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005840"/>
            <a:ext cx="1325880" cy="1463040"/>
          </a:xfrm>
          <a:prstGeom prst="rect">
            <a:avLst/>
          </a:prstGeom>
          <a:solidFill>
            <a:srgbClr val="CADCFC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097280"/>
            <a:ext cx="1234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Raw cell data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21208" y="1508760"/>
            <a:ext cx="119786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MATR / HUST / Sandia / Luh raw .pkl + .csv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2011680" y="1005840"/>
            <a:ext cx="1325880" cy="1463040"/>
          </a:xfrm>
          <a:prstGeom prst="rect">
            <a:avLst/>
          </a:prstGeom>
          <a:solidFill>
            <a:srgbClr val="CADCFC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057400" y="1097280"/>
            <a:ext cx="1234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Audit + features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2075688" y="1508760"/>
            <a:ext cx="119786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Q0 = median(QD₂…QD₅); EOL = first c where Q_dis ≤ 0.85·Q0; 34 features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566160" y="1005840"/>
            <a:ext cx="1325880" cy="1463040"/>
          </a:xfrm>
          <a:prstGeom prst="rect">
            <a:avLst/>
          </a:prstGeom>
          <a:solidFill>
            <a:srgbClr val="CADCFC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11880" y="1097280"/>
            <a:ext cx="1234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Splits (70/15/15)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630168" y="1508760"/>
            <a:ext cx="119786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seeds × cell-level lifetime-stratified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57200" y="2651760"/>
            <a:ext cx="1325880" cy="1463040"/>
          </a:xfrm>
          <a:prstGeom prst="rect">
            <a:avLst/>
          </a:prstGeom>
          <a:solidFill>
            <a:srgbClr val="CADCFC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2920" y="2743200"/>
            <a:ext cx="1234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21208" y="3154680"/>
            <a:ext cx="119786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classical (EN, PLS, RF, XGB, CB, GP, Stacking) + PyTorch 1D-CNN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2011680" y="2651760"/>
            <a:ext cx="1325880" cy="1463040"/>
          </a:xfrm>
          <a:prstGeom prst="rect">
            <a:avLst/>
          </a:prstGeom>
          <a:solidFill>
            <a:srgbClr val="F5B700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057400" y="2743200"/>
            <a:ext cx="1234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Shift + regime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2075688" y="3154680"/>
            <a:ext cx="119786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MMD, Mahalanobis, conditional-shift slopes, rank-signal classifier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3566160" y="2651760"/>
            <a:ext cx="1325880" cy="1463040"/>
          </a:xfrm>
          <a:prstGeom prst="rect">
            <a:avLst/>
          </a:prstGeom>
          <a:solidFill>
            <a:srgbClr val="F5B700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611880" y="2743200"/>
            <a:ext cx="1234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k-shot + CP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3630168" y="3154680"/>
            <a:ext cx="119786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Adapter (residual / linear) → MAPIE split CP at 90% / 95%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5029200" y="100584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5A5C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Outputs: paper-facing tables and figures (within / cross / shift / CP / SHAP / regime).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029200" y="1737360"/>
            <a:ext cx="365760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hyperparameters tuned by inner 5-fold CV (matching protocol across classical models and CNN).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Per-cell cluster bootstrap CIs avoid double-counting target cells across seeds (cross-dataset).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 R² aggregation guards against catastrophic linear-adapter draws on small k_adapter.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code + committed feature CSVs (FAIR + Zenodo deposit, MIT license).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2860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Within-dataset — capacity-only feature contract performance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11480" y="777240"/>
            <a:ext cx="8412480" cy="0"/>
          </a:xfrm>
          <a:prstGeom prst="line">
            <a:avLst/>
          </a:prstGeom>
          <a:noFill/>
          <a:ln w="10160">
            <a:solidFill>
              <a:srgbClr val="D8DC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955280" y="489204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5C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26</a:t>
            </a:r>
            <a:endParaRPr lang="en-US" sz="9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960120"/>
          <a:ext cx="822960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1371600"/>
                <a:gridCol w="914400"/>
                <a:gridCol w="914400"/>
                <a:gridCol w="914400"/>
                <a:gridCol w="2743200"/>
              </a:tblGrid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Dataset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Best model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sMAPE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R²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R² 95% CI (pooled cluster bootstrap)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MATR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CatBoost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171.7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23.7%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0.575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[0.458, 0.646]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HUST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Random Forest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178.0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12.2%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0.340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[0.072, 0.512]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Sandia 0-100 SOC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XGBoost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120.8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23.4%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0.940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[0.804, 0.987]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Luh / KIT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Gaussian Process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115.8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18.4%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0.769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[0.675, 0.843]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457200" y="3246120"/>
            <a:ext cx="822960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Sandia and Luh — fitted reasonably well by capacity-only features (R² ≥ 0.77).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MATR — within the capacity-only literature ceiling (0.6 – 0.7); HUST narrow lifetime range caps R².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Reference: BatLiNet (voltage curves, joint training across 401 cells) hits 6% MAPE on MATR — we trade off accuracy for data-minimality, transferability and valid CP.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Bootstrap CIs from cluster-bootstrap by cell_id across pooled out-of-split predictions.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2860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Cross-dataset transfer fails — but not uniformly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11480" y="777240"/>
            <a:ext cx="8412480" cy="0"/>
          </a:xfrm>
          <a:prstGeom prst="line">
            <a:avLst/>
          </a:prstGeom>
          <a:noFill/>
          <a:ln w="10160">
            <a:solidFill>
              <a:srgbClr val="D8DC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955280" y="489204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5C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26</a:t>
            </a:r>
            <a:endParaRPr lang="en-US" sz="9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960120"/>
          <a:ext cx="5486400" cy="914400"/>
        </p:xfrm>
        <a:graphic>
          <a:graphicData uri="http://schemas.openxmlformats.org/drawingml/2006/table">
            <a:tbl>
              <a:tblPr/>
              <a:tblGrid>
                <a:gridCol w="1554480"/>
                <a:gridCol w="1554480"/>
                <a:gridCol w="1188720"/>
                <a:gridCol w="118872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Direction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Best model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R²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Sandia → Luh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E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185.0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B5E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+0.477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E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Luh → Sandia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E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XGBoost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415.3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B5E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+0.492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E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HUST → Luh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352.8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B265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−0.373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1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MATR → Sandia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CatBoost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715.0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B265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+0.041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1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MATR → HUST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8E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Gaussian Process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8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763.0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8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B000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−7.94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8E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HUST → MATR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8E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Gaussian Process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8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720.4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8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B000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−3.60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8E8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6126480" y="10058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failure regimes emerge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6126480" y="1463040"/>
            <a:ext cx="274320" cy="274320"/>
          </a:xfrm>
          <a:prstGeom prst="rect">
            <a:avLst/>
          </a:prstGeom>
          <a:solidFill>
            <a:srgbClr val="E8F4E8"/>
          </a:solidFill>
          <a:ln/>
        </p:spPr>
      </p:sp>
      <p:sp>
        <p:nvSpPr>
          <p:cNvPr id="9" name="Text 6"/>
          <p:cNvSpPr/>
          <p:nvPr/>
        </p:nvSpPr>
        <p:spPr>
          <a:xfrm>
            <a:off x="6446520" y="146304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rank signal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6126480" y="1828800"/>
            <a:ext cx="274320" cy="274320"/>
          </a:xfrm>
          <a:prstGeom prst="rect">
            <a:avLst/>
          </a:prstGeom>
          <a:solidFill>
            <a:srgbClr val="FFF8E1"/>
          </a:solidFill>
          <a:ln/>
        </p:spPr>
      </p:sp>
      <p:sp>
        <p:nvSpPr>
          <p:cNvPr id="11" name="Text 8"/>
          <p:cNvSpPr/>
          <p:nvPr/>
        </p:nvSpPr>
        <p:spPr>
          <a:xfrm>
            <a:off x="6446520" y="182880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Offset / weak signal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6126480" y="2194560"/>
            <a:ext cx="274320" cy="274320"/>
          </a:xfrm>
          <a:prstGeom prst="rect">
            <a:avLst/>
          </a:prstGeom>
          <a:solidFill>
            <a:srgbClr val="FDE8E8"/>
          </a:solidFill>
          <a:ln/>
        </p:spPr>
      </p:sp>
      <p:sp>
        <p:nvSpPr>
          <p:cNvPr id="13" name="Text 10"/>
          <p:cNvSpPr/>
          <p:nvPr/>
        </p:nvSpPr>
        <p:spPr>
          <a:xfrm>
            <a:off x="6446520" y="219456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Rank-collapsed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6126480" y="2606040"/>
            <a:ext cx="274320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Sandia ↔ Luh stay positive — salvageable.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MATR ↔ HUST catastrophic — no architecture helps.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Worst case: Sandia → MATR with PyTorch CNN reaches R² = −47.8.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Failure structure is not noise — it is predictable.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2860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Geometric shift — capacity normalization closes 71% of the gap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11480" y="777240"/>
            <a:ext cx="8412480" cy="0"/>
          </a:xfrm>
          <a:prstGeom prst="line">
            <a:avLst/>
          </a:prstGeom>
          <a:noFill/>
          <a:ln w="10160">
            <a:solidFill>
              <a:srgbClr val="D8DC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955280" y="489204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5C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26</a:t>
            </a:r>
            <a:endParaRPr lang="en-US" sz="9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960120"/>
          <a:ext cx="530352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914400"/>
                <a:gridCol w="822960"/>
                <a:gridCol w="155448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Setting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Feature set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MMD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Mahalanobis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Raw features (MATR vs HUST)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13.10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Raw features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16.00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Q0-normalized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3.75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E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Q0-normalized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6.71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5852160" y="1005840"/>
            <a:ext cx="2926080" cy="1554480"/>
          </a:xfrm>
          <a:prstGeom prst="rect">
            <a:avLst/>
          </a:prstGeom>
          <a:solidFill>
            <a:srgbClr val="CADCFC">
              <a:alpha val="70000"/>
            </a:srgbClr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852160" y="1051560"/>
            <a:ext cx="2926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71%</a:t>
            </a:r>
            <a:endParaRPr lang="en-US" sz="4800" dirty="0"/>
          </a:p>
        </p:txBody>
      </p:sp>
      <p:sp>
        <p:nvSpPr>
          <p:cNvPr id="9" name="Text 6"/>
          <p:cNvSpPr/>
          <p:nvPr/>
        </p:nvSpPr>
        <p:spPr>
          <a:xfrm>
            <a:off x="5852160" y="1783080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geometric shift closed by Q0 normalization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457200" y="3108960"/>
            <a:ext cx="822960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Largest single contributor: Qdis_cycle10 — 10.84 σ pooled-z mean shift (MATR Q0 ≈ 1.07 Ah, HUST Q0 ≈ 1.20 Ah).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Capacity normalization (SOP §2.3) divides Q-scale features by per-cell Q0, putting heterogeneous datasets on the same scale.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Mahalanobis 13.10 → 3.75 with 12-feature set; MMD 0.71 → 0.51.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 R² doesn't improve — sometimes degrades (next slide).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2860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finding — covariate alignment ≠ concept alignment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11480" y="777240"/>
            <a:ext cx="8412480" cy="0"/>
          </a:xfrm>
          <a:prstGeom prst="line">
            <a:avLst/>
          </a:prstGeom>
          <a:noFill/>
          <a:ln w="10160">
            <a:solidFill>
              <a:srgbClr val="D8DC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955280" y="489204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5C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26</a:t>
            </a:r>
            <a:endParaRPr lang="en-US" sz="9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960120"/>
          <a:ext cx="5486400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1097280"/>
                <a:gridCol w="914400"/>
                <a:gridCol w="1097280"/>
                <a:gridCol w="73152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Direction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Feature set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Raw R²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Capnorm R²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Δ R²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MATR → HUST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−8.13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−8.11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+0.02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HUST → MATR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−1.53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−3.82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−2.29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HUST → MATR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−2.05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−3.60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−1.55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6217920" y="960120"/>
            <a:ext cx="2651760" cy="21945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217920" y="105156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MMD ↓ 28%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6217920" y="155448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Mahalanobis ↓ 71%</a:t>
            </a:r>
            <a:endParaRPr lang="en-US" sz="1800" dirty="0"/>
          </a:p>
        </p:txBody>
      </p:sp>
      <p:sp>
        <p:nvSpPr>
          <p:cNvPr id="10" name="Shape 7"/>
          <p:cNvSpPr/>
          <p:nvPr/>
        </p:nvSpPr>
        <p:spPr>
          <a:xfrm>
            <a:off x="6355080" y="2148840"/>
            <a:ext cx="2377440" cy="0"/>
          </a:xfrm>
          <a:prstGeom prst="line">
            <a:avLst/>
          </a:prstGeom>
          <a:noFill/>
          <a:ln w="19050">
            <a:solidFill>
              <a:srgbClr val="F5B70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217920" y="228600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i="1" dirty="0">
                <a:solidFill>
                  <a:srgbClr val="F5B7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R² unchanged or worse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6217920" y="274320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 shift in P(Y|X) remains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457200" y="3291840"/>
            <a:ext cx="822960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Classical covariate-vs-concept shift distinction shows up cleanly in battery data.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Removing the dataset-identity signal (Q0 gap) breaks the implicit predictor without fixing the y-distribution mismatch.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HUST → MATR even degrades after capnorm (−1.53 → −3.82 for 12-feat) — the Q0 gap was load-bearing.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Motivation for the conditional-shift decomposition framework (next slide).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2860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Conditional shift — slope tests across four-dataset pairs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11480" y="777240"/>
            <a:ext cx="8412480" cy="0"/>
          </a:xfrm>
          <a:prstGeom prst="line">
            <a:avLst/>
          </a:prstGeom>
          <a:noFill/>
          <a:ln w="10160">
            <a:solidFill>
              <a:srgbClr val="D8DC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955280" y="489204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5C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26</a:t>
            </a:r>
            <a:endParaRPr lang="en-US" sz="900" dirty="0"/>
          </a:p>
        </p:txBody>
      </p:sp>
      <p:pic>
        <p:nvPicPr>
          <p:cNvPr id="6" name="Image 0" descr="/Users/osmancifci/Downloads/Graduation-Project-Dicle/.claude/worktrees/flamboyant-joliot-f98517/outputs/results_v2_four_dataset_conditional_shift/four_dataset_conditional_shift_heatmap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1005840"/>
            <a:ext cx="4576975" cy="36576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760720" y="1005840"/>
            <a:ext cx="301752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■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Z-score each feature within dataset; centre log(cycle_life) within dataset.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■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HUST−MATR slope differences with bootstrap CIs + BH FDR correction.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■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Universal log-life offset reported separately (e.g. HUST/MATR = 0.735, ≈ 2.09×).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■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Slope-shifted feature counts per pair: HUST↔Luh 26/34; HUST↔Sandia 25/34; MATR↔Sandia 19/34; MATR↔HUST 14/34; Sandia↔Luh 3/34 (the cleanest pair).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■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rule: BH-q &lt; 0.05 AND bootstrap CI excludes zero.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2860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Rank-signal regime taxonomy — predict success before training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11480" y="777240"/>
            <a:ext cx="8412480" cy="0"/>
          </a:xfrm>
          <a:prstGeom prst="line">
            <a:avLst/>
          </a:prstGeom>
          <a:noFill/>
          <a:ln w="10160">
            <a:solidFill>
              <a:srgbClr val="D8DC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955280" y="489204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5C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26</a:t>
            </a:r>
            <a:endParaRPr lang="en-US" sz="9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914400"/>
          <a:ext cx="5943600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914400"/>
                <a:gridCol w="914400"/>
                <a:gridCol w="1188720"/>
                <a:gridCol w="1737360"/>
              </a:tblGrid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Direction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Naive R²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Pearson 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Linear-cal R²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Regime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Luh → Sandia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0.492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0.912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0.840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B5E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STRONG_RANK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E8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Sandia → Luh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0.477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0.859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0.744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B5E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STRONG_RANK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E8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HUST → Luh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−0.373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0.766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0.600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B265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OFFSET_DOM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1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MATR → Sandia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+0.041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0.522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0.343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B265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OFFSET_DOM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1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MATR → HUST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8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−7.94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8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−0.12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8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0.025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8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B000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RANK_COLLAPSED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8E8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HUST → MATR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8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−3.60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8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−0.13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8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0.015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8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B000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RANK_COLLAPSED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8E8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6355080" y="960120"/>
            <a:ext cx="260604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STRONG_RANK — naive R² &gt; 0.4, high Pearson r; salvageable.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OFFSET_DOMINANT — rank signal preserved (r &gt; 0.5), but absolute scale wrong → calibratable.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RANK_COLLAPSED — r near zero or negative; no architecture or k-shot fix is sufficient.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Regime label can be predicted from source/target diagnostics without training the predictor (regime classifier).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2860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Directional asymmetry — MATR ↔ HUST exemplar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11480" y="777240"/>
            <a:ext cx="8412480" cy="0"/>
          </a:xfrm>
          <a:prstGeom prst="line">
            <a:avLst/>
          </a:prstGeom>
          <a:noFill/>
          <a:ln w="10160">
            <a:solidFill>
              <a:srgbClr val="D8DC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955280" y="489204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5C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26</a:t>
            </a:r>
            <a:endParaRPr lang="en-US" sz="900" dirty="0"/>
          </a:p>
        </p:txBody>
      </p:sp>
      <p:pic>
        <p:nvPicPr>
          <p:cNvPr id="6" name="Image 0" descr="/Users/osmancifci/Downloads/Graduation-Project-Dicle/.claude/worktrees/flamboyant-joliot-f98517/outputs/results_v2_conditional_shift/paper_directional_asymmetry_seed4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914400"/>
            <a:ext cx="5120640" cy="3603413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669280" y="914400"/>
            <a:ext cx="3108960" cy="3931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predictions vs target ground truth — paper-facing scatter, seed=42.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HUST → MATR keeps weak positive rank signal (r ≈ 0.22 – 0.27).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MATR → HUST is essentially uncorrelated with target lifetime (r ≈ −0.12 to −0.14).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Negative alpha in OLS is fitting noise — not a real mechanistic inversion.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Theil-Sen and Huber estimators confirm the same picture.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Constant share of squared error: 72 – 90% across configs → dominant component is a directional offset.</a:t>
            </a:r>
            <a:endParaRPr lang="en-US" sz="10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2860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Importance-weighted CP — the falsifier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11480" y="777240"/>
            <a:ext cx="8412480" cy="0"/>
          </a:xfrm>
          <a:prstGeom prst="line">
            <a:avLst/>
          </a:prstGeom>
          <a:noFill/>
          <a:ln w="10160">
            <a:solidFill>
              <a:srgbClr val="D8DC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955280" y="489204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5C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26</a:t>
            </a:r>
            <a:endParaRPr lang="en-US" sz="900" dirty="0"/>
          </a:p>
        </p:txBody>
      </p:sp>
      <p:pic>
        <p:nvPicPr>
          <p:cNvPr id="6" name="Image 0" descr="/Users/osmancifci/Downloads/Graduation-Project-Dicle/.claude/worktrees/flamboyant-joliot-f98517/outputs/results_v2_importance_weighted_cp/paper_iwcp_comparison_9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914400"/>
            <a:ext cx="3812241" cy="38404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846320" y="91440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Can a pure covariate-shift fix recover coverage?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4846320" y="1371600"/>
            <a:ext cx="393192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■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Cross-fitted logistic discriminator AUC = 0.994 – 0.996 → near-perfect dataset separability.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■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calibration-weight ESS/n ≈ 0.55 – 0.59.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■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Importance-weighted CP at 90% nominal: coverage reaches 99% only by returning infinite intervals 99% of the time (finite-interval fraction ≤ 0.9%).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■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Re-weighting alone cannot deliver useful target intervals — covariate shift is not the binding constraint.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■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Target-adapted residual-mean CP at k=20 recovers 90% coverage with finite intervals (0.905 – 0.909).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2860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k-shot target calibration — scaling with target labels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11480" y="777240"/>
            <a:ext cx="8412480" cy="0"/>
          </a:xfrm>
          <a:prstGeom prst="line">
            <a:avLst/>
          </a:prstGeom>
          <a:noFill/>
          <a:ln w="10160">
            <a:solidFill>
              <a:srgbClr val="D8DC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955280" y="489204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5C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26</a:t>
            </a:r>
            <a:endParaRPr lang="en-US" sz="900" dirty="0"/>
          </a:p>
        </p:txBody>
      </p:sp>
      <p:pic>
        <p:nvPicPr>
          <p:cNvPr id="6" name="Image 0" descr="/Users/osmancifci/Downloads/Graduation-Project-Dicle/.claude/worktrees/flamboyant-joliot-f98517/outputs/results_v2_four_dataset_kshot_scaling/paper_kshot_scalin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914400"/>
            <a:ext cx="5486400" cy="367659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989320" y="914400"/>
            <a:ext cx="2834640" cy="3931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Two-parameter linear adapter fit on k random target cells, scored on the rest.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MATR → HUST CatBoost: R² −10.0 → −0.13 with k=20 (≈10× MSE reduction).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HUST → MATR Stacking: R² −2.66 → −0.05 with k=20.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adapter outperforms residual-mean on heterogeneous Sandia targets.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Repaired R² near 0 = matches target marginal mean — calibration ceiling for rank-collapsed pairs.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k=5 is too few; k=20 is the sweet spot for budget and recovery.</a:t>
            </a:r>
            <a:endParaRPr lang="en-US" sz="10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2860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Conformal prediction — coverage and interval width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11480" y="777240"/>
            <a:ext cx="8412480" cy="0"/>
          </a:xfrm>
          <a:prstGeom prst="line">
            <a:avLst/>
          </a:prstGeom>
          <a:noFill/>
          <a:ln w="10160">
            <a:solidFill>
              <a:srgbClr val="D8DC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955280" y="489204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5C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/ 26</a:t>
            </a:r>
            <a:endParaRPr lang="en-US" sz="900" dirty="0"/>
          </a:p>
        </p:txBody>
      </p:sp>
      <p:pic>
        <p:nvPicPr>
          <p:cNvPr id="6" name="Image 0" descr="/Users/osmancifci/Downloads/Graduation-Project-Dicle/.claude/worktrees/flamboyant-joliot-f98517/outputs/results_v2_four_dataset_conformal/paper_cp_coverage_width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914400"/>
            <a:ext cx="5486400" cy="349134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989320" y="914400"/>
            <a:ext cx="2834640" cy="3931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MAPIE split CP at 90% / 95%, absolute-residual conformity score, prefit estimator.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Within-dataset CP: coverage 0.89 – 0.97 — coverage-valid by exchangeability.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Naive source-calibrated cross CP: 0.00 – 0.73 — under-covers under shift.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Target-domain CP (k=20): 0.89 – 0.92 — coverage restored at cost of width.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Residual-mean adapted CP (k=20 + 20): 0.89 – 0.93 — best width/coverage trade-off.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 R² used in tables (linear adapter occasionally produces extreme draws — see CP outlier note).</a:t>
            </a:r>
            <a:endParaRPr lang="en-US" sz="10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2860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Regime-stratified CP — coverage and width organized by regime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11480" y="777240"/>
            <a:ext cx="8412480" cy="0"/>
          </a:xfrm>
          <a:prstGeom prst="line">
            <a:avLst/>
          </a:prstGeom>
          <a:noFill/>
          <a:ln w="10160">
            <a:solidFill>
              <a:srgbClr val="D8DC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955280" y="489204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5C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/ 26</a:t>
            </a:r>
            <a:endParaRPr lang="en-US" sz="900" dirty="0"/>
          </a:p>
        </p:txBody>
      </p:sp>
      <p:pic>
        <p:nvPicPr>
          <p:cNvPr id="6" name="Image 0" descr="/Users/osmancifci/Downloads/Graduation-Project-Dicle/.claude/worktrees/flamboyant-joliot-f98517/outputs/results_v2_four_dataset_conformal/paper_cp_regime_stratified_9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44436" y="914400"/>
            <a:ext cx="4655127" cy="25603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57200" y="3520440"/>
            <a:ext cx="731520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300"/>
              </a:spcAft>
              <a:buSzPct val="100000"/>
              <a:buChar char="■"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transfer directions sorted by rank-signal regime; four CP scenarios per row.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■"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STRONG_RANK pair (Sandia ↔ Luh) — narrow intervals after adapter.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■"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RANK_COLLAPSED pair (MATR ↔ HUST) — coverage restored but width remains large.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■"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Source-calibrated CP collapses in every regime — under-coverage is universal, not regime-specific.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■"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 R² reporting suppresses the LUH→MATR linear-adapter outlier (was R²_mean ≈ −3.5 × 10⁵).</a:t>
            </a:r>
            <a:endParaRPr lang="en-US" sz="10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2860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SHAP × regime — important within-domain, fragile across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11480" y="777240"/>
            <a:ext cx="8412480" cy="0"/>
          </a:xfrm>
          <a:prstGeom prst="line">
            <a:avLst/>
          </a:prstGeom>
          <a:noFill/>
          <a:ln w="10160">
            <a:solidFill>
              <a:srgbClr val="D8DC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955280" y="489204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5C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/ 26</a:t>
            </a:r>
            <a:endParaRPr lang="en-US" sz="900" dirty="0"/>
          </a:p>
        </p:txBody>
      </p:sp>
      <p:pic>
        <p:nvPicPr>
          <p:cNvPr id="6" name="Image 0" descr="/Users/osmancifci/Downloads/Graduation-Project-Dicle/.claude/worktrees/flamboyant-joliot-f98517/outputs/results_v2_four_dataset_shap/four_dataset_shap_feature_importance_top_feature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914400"/>
            <a:ext cx="5360047" cy="23774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57200" y="338328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TreeSHAP attribution on the per-dataset primary model (CatBoost / RF / XGBoost / GP).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MATR top: accel_mean, poly2_c, slope_last_quarter, range_Qdis — most are slope-shifted across MATR↔HUST.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HUST top: Qdis_N, linearity_r2, Qdis_cycle10, poly2_a — scale-shift fragile (Qdis_cycle10 has 10.84σ shift).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Sandia top: Qdis_N (55% rel. importance), mad_Qdis, slope_linear — slope-stable across Sandia↔Luh.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Sandia↔Luh transferable directions have stable top SHAP features; MATR↔HUST collapsed pairs have unstable ones.</a:t>
            </a:r>
            <a:endParaRPr lang="en-US" sz="11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2860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Backbone-agnostic check — PyTorch 1D-CNN + Pareto positioning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11480" y="777240"/>
            <a:ext cx="8412480" cy="0"/>
          </a:xfrm>
          <a:prstGeom prst="line">
            <a:avLst/>
          </a:prstGeom>
          <a:noFill/>
          <a:ln w="10160">
            <a:solidFill>
              <a:srgbClr val="D8DC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955280" y="489204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5C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 / 26</a:t>
            </a:r>
            <a:endParaRPr lang="en-US" sz="90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960120"/>
          <a:ext cx="4114800" cy="914400"/>
        </p:xfrm>
        <a:graphic>
          <a:graphicData uri="http://schemas.openxmlformats.org/drawingml/2006/table">
            <a:tbl>
              <a:tblPr/>
              <a:tblGrid>
                <a:gridCol w="1097280"/>
                <a:gridCol w="1188720"/>
                <a:gridCol w="1005840"/>
                <a:gridCol w="822960"/>
              </a:tblGrid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Dataset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Classical best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PyTorch CNN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Δ R²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MATR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CatBoost 0.575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0.305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−0.270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HUST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RF 0.340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−0.174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−0.514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Sandia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XGBoost 0.940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0.881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−0.059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Luh / KIT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GP 0.769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0.761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−0.008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4846320" y="96012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Pareto positioning vs literature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4846320" y="1371600"/>
            <a:ext cx="40233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0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Severson 2019 (V(Q))</a:t>
            </a:r>
            <a:endParaRPr lang="en-US" sz="10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5A5C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~10% MAPE  ·  no CP</a:t>
            </a:r>
            <a:endParaRPr lang="en-US" sz="10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BatLiNet 2024 (V/Q + joint)</a:t>
            </a:r>
            <a:endParaRPr lang="en-US" sz="10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5A5C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6% MAPE MATR-1  ·  no CP</a:t>
            </a:r>
            <a:endParaRPr lang="en-US" sz="10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EES 2025 (T features)</a:t>
            </a:r>
            <a:endParaRPr lang="en-US" sz="10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5A5C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12% MAPE TRI  ·  no CP</a:t>
            </a:r>
            <a:endParaRPr lang="en-US" sz="10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50" b="1" dirty="0">
                <a:solidFill>
                  <a:srgbClr val="F5B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work — capacity-only + CP</a:t>
            </a:r>
            <a:endParaRPr lang="en-US" sz="10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F5B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24% sMAPE MATR  ·  valid CP  ·  CPU seconds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457200" y="3566160"/>
            <a:ext cx="841248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300"/>
              </a:spcAft>
              <a:buSzPct val="100000"/>
              <a:buChar char="■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CNN is competitive on Sandia/Luh, falls below classical on MATR/HUST.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■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Cross-dataset regime taxonomy preserved with CNN — same STRONG_RANK / RANK_COLLAPSED pairs.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■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 CNN over-extrapolates on Sandia source: Sandia → MATR R² = −47.8, Sandia → HUST = −36.8 — deep architecture amplifies source-specific signal under shift.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■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Take-away: regime taxonomy is backbone-agnostic; deep architecture does not buy cross-dataset robustness on the capacity-only contract.</a:t>
            </a:r>
            <a:endParaRPr lang="en-US" sz="11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2860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LODO source-expert — multi-source deployment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11480" y="777240"/>
            <a:ext cx="8412480" cy="0"/>
          </a:xfrm>
          <a:prstGeom prst="line">
            <a:avLst/>
          </a:prstGeom>
          <a:noFill/>
          <a:ln w="10160">
            <a:solidFill>
              <a:srgbClr val="D8DC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955280" y="489204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5C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/ 26</a:t>
            </a:r>
            <a:endParaRPr lang="en-US" sz="900" dirty="0"/>
          </a:p>
        </p:txBody>
      </p:sp>
      <p:pic>
        <p:nvPicPr>
          <p:cNvPr id="6" name="Image 0" descr="/Users/osmancifci/Downloads/Graduation-Project-Dicle/.claude/worktrees/flamboyant-joliot-f98517/outputs/results_v2_four_dataset_lodo_source_expert/paper_lodo_main_pane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914400"/>
            <a:ext cx="5486400" cy="277520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989320" y="914400"/>
            <a:ext cx="2834640" cy="3931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 out each target dataset; train on the other three.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pooled ERM, source-expert selection, convex source-expert weighting, and pooled ERM + k-shot adapters.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k=20 results: HUST R² = −0.115, Luh R² = +0.667, MATR R² = −0.018, Sandia R² = +0.862.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Improves over naive single-source for every target, with clear k-shot scaling.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not uniformly beat an oracle that picks the best source post-hoc — practical protocol, not a silver bullet.</a:t>
            </a:r>
            <a:endParaRPr lang="en-US" sz="10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2860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Survival audit — censoring is not the explanation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11480" y="777240"/>
            <a:ext cx="8412480" cy="0"/>
          </a:xfrm>
          <a:prstGeom prst="line">
            <a:avLst/>
          </a:prstGeom>
          <a:noFill/>
          <a:ln w="10160">
            <a:solidFill>
              <a:srgbClr val="D8DC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955280" y="489204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5C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 / 26</a:t>
            </a:r>
            <a:endParaRPr lang="en-US" sz="900" dirty="0"/>
          </a:p>
        </p:txBody>
      </p:sp>
      <p:pic>
        <p:nvPicPr>
          <p:cNvPr id="6" name="Image 0" descr="/Users/osmancifci/Downloads/Graduation-Project-Dicle/.claude/worktrees/flamboyant-joliot-f98517/outputs/results_v2_four_dataset_survival/kaplan_meier_four_datase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960120"/>
            <a:ext cx="5029200" cy="325418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669280" y="960120"/>
            <a:ext cx="310896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MATR 6/135 cells censored at 0.85·Q0; HUST 0/77; Sandia 11/61; Luh 2/108.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Kaplan-Meier medians: MATR 773, HUST 1513, Sandia 305, Luh 508 cycles.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Log-rank χ² = 61.2, p = 5.2 × 10⁻¹⁵ between MATR and HUST — separation is decisive.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Imputing censored MATR cells at their censoring times moves MATR mean only 778 → 802 cycles.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Censoring is not the reason HUST appears longer-lived than MATR.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Supplementary diagnostic — paper-facing claim unchanged.</a:t>
            </a:r>
            <a:endParaRPr lang="en-US" sz="10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2860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Dynamics-level evidence — Hankel-DMD pilot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11480" y="777240"/>
            <a:ext cx="8412480" cy="0"/>
          </a:xfrm>
          <a:prstGeom prst="line">
            <a:avLst/>
          </a:prstGeom>
          <a:noFill/>
          <a:ln w="10160">
            <a:solidFill>
              <a:srgbClr val="D8DC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955280" y="489204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5C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 / 26</a:t>
            </a:r>
            <a:endParaRPr lang="en-US" sz="900" dirty="0"/>
          </a:p>
        </p:txBody>
      </p:sp>
      <p:pic>
        <p:nvPicPr>
          <p:cNvPr id="6" name="Image 0" descr="/Users/osmancifci/Downloads/Graduation-Project-Dicle/.claude/worktrees/flamboyant-joliot-f98517/outputs/results_v2_four_dataset_koopman_dmd/dmd_eigenvalue_complex_plan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914400"/>
            <a:ext cx="3840480" cy="340156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572000" y="914400"/>
            <a:ext cx="420624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Hankel-DMD on early Q/Q0 trajectories (cycles 2 – 100).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Four-class discriminator on DMD summaries reaches AUC 0.915 ± 0.019.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Sandia vs Luh dominant |λ| Pearson r with log-life: 0.80 (Sandia), 0.58 (Luh).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Sandia → Luh operator transfer: 1.07× Luh self-RMSE.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Sandia → MATR / Luh: operator extrapolation fails (consistent with regime collapse).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Supporting mechanistic evidence — not a headline predictor.</a:t>
            </a:r>
            <a:endParaRPr lang="en-US" sz="10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2860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Limitations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11480" y="777240"/>
            <a:ext cx="8412480" cy="0"/>
          </a:xfrm>
          <a:prstGeom prst="line">
            <a:avLst/>
          </a:prstGeom>
          <a:noFill/>
          <a:ln w="10160">
            <a:solidFill>
              <a:srgbClr val="D8DC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955280" y="489204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5C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 / 26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960120"/>
            <a:ext cx="8412480" cy="3931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Capacity-only feature contract has a within-dataset accuracy ceiling. BatLiNet and BatteryLife clearly outperform on accuracy alone; we trade accuracy for transferability and valid CP.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Rank-collapsed regimes (MATR ↔ HUST) cannot be repaired by k-shot or by deeper architecture. The framework predicts this failure but does not solve it.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adapter occasionally produces degenerate fits on small k_adapter — reported via median R² rather than mean to suppress outliers in paper-facing tables.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seeds × 70/15/15 splits give relatively wide bootstrap CIs on HUST (12-cell test set); we use pooled cluster-bootstrap to mitigate but cannot eliminate this.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do not address streaming / online cell calibration — the protocol assumes a one-time k=20 collection per deployment.</a:t>
            </a:r>
            <a:endParaRPr lang="en-US" sz="13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73152" cy="502920"/>
          </a:xfrm>
          <a:prstGeom prst="rect">
            <a:avLst/>
          </a:prstGeom>
          <a:solidFill>
            <a:srgbClr val="F5B700"/>
          </a:solidFill>
          <a:ln w="12700">
            <a:solidFill>
              <a:srgbClr val="F5B7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22960" y="411480"/>
            <a:ext cx="7955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 — four findings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280160"/>
            <a:ext cx="813816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Cross-dataset RUL transfer separates into three deterministic regimes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(strong-rank · offset-dominant · rank-collapsed). The regime is predictable from source/target diagnostics before training.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Covariate alignment ≠ concept alignment.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Capacity normalization closes 71% of the geometric gap, but cross-dataset R² is unchanged or worse.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Small target labelled set (k=20) + MAPIE split CP repairs the salvageable regimes with valid 90% / 95% coverage.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Rank-preserving directions recover to R² ≈ 0 with finite intervals; rank-collapsed pairs remain hard.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The regime taxonomy is backbone-agnostic.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PyTorch 1D-CNN preserves it — and over-extrapolates on Sandia source, reinforcing the Pareto positioning argument.</a:t>
            </a:r>
            <a:endParaRPr lang="en-US" sz="13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2860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Future work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11480" y="777240"/>
            <a:ext cx="8412480" cy="0"/>
          </a:xfrm>
          <a:prstGeom prst="line">
            <a:avLst/>
          </a:prstGeom>
          <a:noFill/>
          <a:ln w="10160">
            <a:solidFill>
              <a:srgbClr val="D8DC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955280" y="489204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5C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/ 26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960120"/>
            <a:ext cx="8412480" cy="3931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700"/>
              </a:spcAft>
              <a:buSzPct val="100000"/>
              <a:buChar char="■"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Voltage / temperature / impedance feature contracts under the same regime-taxonomy framework. Does richer data shift the regime boundaries or simply add a constant to within-dataset accuracy?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■"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Streaming / online k-shot calibration. Current protocol assumes a single batch of k=20 target cells; a real deployment might add cells incrementally.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■"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Fifth-dataset held-out validation of the regime classifier. Currently the classifier is fit on 12 directions × 4 datasets; an unseen dataset would falsify or confirm the taxonomy.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■"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Physics-informed adapter families. Replace the linear adapter with a small electrochemistry-aware correction that uses Q0 + chemistry prior — might break the rank-collapsed regime.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■"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Cross-protocol transfer at fixed chemistry. Sandia includes mixed temperatures and discharge rates within one chemistry — natural follow-up benchmark.</a:t>
            </a:r>
            <a:endParaRPr lang="en-US" sz="12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1371600"/>
            <a:ext cx="73152" cy="2377440"/>
          </a:xfrm>
          <a:prstGeom prst="rect">
            <a:avLst/>
          </a:prstGeom>
          <a:solidFill>
            <a:srgbClr val="F5B700"/>
          </a:solidFill>
          <a:ln w="12700">
            <a:solidFill>
              <a:srgbClr val="F5B7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22960" y="1280160"/>
            <a:ext cx="7772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5600" dirty="0"/>
          </a:p>
        </p:txBody>
      </p:sp>
      <p:sp>
        <p:nvSpPr>
          <p:cNvPr id="4" name="Text 2"/>
          <p:cNvSpPr/>
          <p:nvPr/>
        </p:nvSpPr>
        <p:spPr>
          <a:xfrm>
            <a:off x="822960" y="237744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and discussion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822960" y="320040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Code, data, and reproduction recipe — </a:t>
            </a:r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github.com/osmansafacifci/Graduation-Project-Dicle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22960" y="361188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Companion paper: </a:t>
            </a:r>
            <a:pPr indent="0" marL="0">
              <a:buNone/>
            </a:pPr>
            <a:r>
              <a:rPr lang="en-US" sz="13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MIT-licensed, Zenodo DOI on release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45720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Durukan Demir  ·  Dicle Çoban  ·  Salih Sarp  ·  Osman Safa Çifçi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26</Slides>
  <Notes>26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2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Battery RUL — Cross-Dataset Transfer and Conformal Uncertainty</dc:title>
  <dc:subject>PptxGenJS Presentation</dc:subject>
  <dc:creator>Demir, Çoban, Sarp, Çifçi</dc:creator>
  <cp:lastModifiedBy>Demir, Çoban, Sarp, Çifçi</cp:lastModifiedBy>
  <cp:revision>1</cp:revision>
  <dcterms:created xsi:type="dcterms:W3CDTF">2026-05-16T17:01:11Z</dcterms:created>
  <dcterms:modified xsi:type="dcterms:W3CDTF">2026-05-16T17:01:11Z</dcterms:modified>
</cp:coreProperties>
</file>